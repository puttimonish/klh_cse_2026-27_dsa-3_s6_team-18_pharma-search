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4" r:id="rId4"/>
    <p:sldId id="258" r:id="rId5"/>
    <p:sldId id="261" r:id="rId6"/>
    <p:sldId id="265" r:id="rId7"/>
    <p:sldId id="259" r:id="rId8"/>
    <p:sldId id="267" r:id="rId9"/>
    <p:sldId id="266" r:id="rId10"/>
    <p:sldId id="260" r:id="rId11"/>
    <p:sldId id="262"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3" d="100"/>
          <a:sy n="83" d="100"/>
        </p:scale>
        <p:origin x="61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8/20/2026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8/20/2026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8/20/2026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8/20/2026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8/20/2026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8/20/2026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8/20/2026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8/20/2026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8/20/2026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8/20/2026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8/20/2026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61938" y="1027775"/>
            <a:ext cx="9144000" cy="2316702"/>
          </a:xfrm>
        </p:spPr>
        <p:txBody>
          <a:bodyPr/>
          <a:lstStyle/>
          <a:p>
            <a:r>
              <a:rPr lang="en-US" b="1" dirty="0">
                <a:solidFill>
                  <a:srgbClr val="C00000"/>
                </a:solidFill>
                <a:latin typeface="+mn-lt"/>
              </a:rPr>
              <a:t/>
            </a:r>
            <a:br>
              <a:rPr lang="en-US" b="1" dirty="0">
                <a:solidFill>
                  <a:srgbClr val="C00000"/>
                </a:solidFill>
                <a:latin typeface="+mn-lt"/>
              </a:rPr>
            </a:br>
            <a:r>
              <a:rPr lang="en-US" b="1" dirty="0">
                <a:solidFill>
                  <a:srgbClr val="C00000"/>
                </a:solidFill>
                <a:latin typeface="+mn-lt"/>
              </a:rPr>
              <a:t/>
            </a:r>
            <a:br>
              <a:rPr lang="en-US" b="1" dirty="0">
                <a:solidFill>
                  <a:srgbClr val="C00000"/>
                </a:solidFill>
                <a:latin typeface="+mn-lt"/>
              </a:rPr>
            </a:br>
            <a:r>
              <a:rPr lang="en-US" b="1" dirty="0">
                <a:solidFill>
                  <a:srgbClr val="C00000"/>
                </a:solidFill>
                <a:latin typeface="+mn-lt"/>
              </a:rPr>
              <a:t/>
            </a:r>
            <a:br>
              <a:rPr lang="en-US" b="1" dirty="0">
                <a:solidFill>
                  <a:srgbClr val="C00000"/>
                </a:solidFill>
                <a:latin typeface="+mn-lt"/>
              </a:rPr>
            </a:br>
            <a:r>
              <a:rPr lang="en-US" b="1" dirty="0">
                <a:solidFill>
                  <a:srgbClr val="C00000"/>
                </a:solidFill>
                <a:latin typeface="+mn-lt"/>
              </a:rPr>
              <a:t/>
            </a:r>
            <a:br>
              <a:rPr lang="en-US" b="1" dirty="0">
                <a:solidFill>
                  <a:srgbClr val="C00000"/>
                </a:solidFill>
                <a:latin typeface="+mn-lt"/>
              </a:rPr>
            </a:br>
            <a:r>
              <a:rPr lang="en-US" b="1" dirty="0">
                <a:solidFill>
                  <a:srgbClr val="C00000"/>
                </a:solidFill>
                <a:latin typeface="+mn-lt"/>
              </a:rPr>
              <a:t/>
            </a:r>
            <a:br>
              <a:rPr lang="en-US" b="1" dirty="0">
                <a:solidFill>
                  <a:srgbClr val="C00000"/>
                </a:solidFill>
                <a:latin typeface="+mn-lt"/>
              </a:rPr>
            </a:br>
            <a:r>
              <a:rPr lang="en-US" b="1" dirty="0">
                <a:solidFill>
                  <a:srgbClr val="C00000"/>
                </a:solidFill>
                <a:latin typeface="+mn-lt"/>
              </a:rPr>
              <a:t/>
            </a:r>
            <a:br>
              <a:rPr lang="en-US" b="1" dirty="0">
                <a:solidFill>
                  <a:srgbClr val="C00000"/>
                </a:solidFill>
                <a:latin typeface="+mn-lt"/>
              </a:rPr>
            </a:br>
            <a:r>
              <a:rPr lang="en-US" sz="4000" b="1" dirty="0">
                <a:solidFill>
                  <a:srgbClr val="C00000"/>
                </a:solidFill>
                <a:latin typeface="+mn-lt"/>
              </a:rPr>
              <a:t/>
            </a:r>
            <a:br>
              <a:rPr lang="en-US" sz="4000" b="1" dirty="0">
                <a:solidFill>
                  <a:srgbClr val="C00000"/>
                </a:solidFill>
                <a:latin typeface="+mn-lt"/>
              </a:rPr>
            </a:br>
            <a:r>
              <a:rPr lang="en-US" sz="4000" b="1" dirty="0" smtClean="0">
                <a:solidFill>
                  <a:srgbClr val="C00000"/>
                </a:solidFill>
                <a:latin typeface="+mn-lt"/>
              </a:rPr>
              <a:t>Data Structures and Algorithms -3 (25CS2103E)</a:t>
            </a:r>
            <a:r>
              <a:rPr lang="en-US" sz="4000" b="1" dirty="0">
                <a:solidFill>
                  <a:srgbClr val="C00000"/>
                </a:solidFill>
                <a:latin typeface="+mn-lt"/>
              </a:rPr>
              <a:t/>
            </a:r>
            <a:br>
              <a:rPr lang="en-US" sz="4000" b="1" dirty="0">
                <a:solidFill>
                  <a:srgbClr val="C00000"/>
                </a:solidFill>
                <a:latin typeface="+mn-lt"/>
              </a:rPr>
            </a:br>
            <a:r>
              <a:rPr lang="en-US" sz="4000" b="1" dirty="0">
                <a:solidFill>
                  <a:srgbClr val="C00000"/>
                </a:solidFill>
                <a:latin typeface="+mn-lt"/>
              </a:rPr>
              <a:t/>
            </a:r>
            <a:br>
              <a:rPr lang="en-US" sz="4000" b="1" dirty="0">
                <a:solidFill>
                  <a:srgbClr val="C00000"/>
                </a:solidFill>
                <a:latin typeface="+mn-lt"/>
              </a:rPr>
            </a:br>
            <a:r>
              <a:rPr lang="en-US" sz="4000" b="1" dirty="0">
                <a:solidFill>
                  <a:srgbClr val="C00000"/>
                </a:solidFill>
                <a:latin typeface="+mn-lt"/>
              </a:rPr>
              <a:t>Pharma Search</a:t>
            </a:r>
          </a:p>
        </p:txBody>
      </p:sp>
      <p:sp>
        <p:nvSpPr>
          <p:cNvPr id="3" name="Subtitle 2"/>
          <p:cNvSpPr>
            <a:spLocks noGrp="1"/>
          </p:cNvSpPr>
          <p:nvPr>
            <p:ph type="subTitle" idx="1"/>
          </p:nvPr>
        </p:nvSpPr>
        <p:spPr>
          <a:xfrm>
            <a:off x="4270160" y="3513524"/>
            <a:ext cx="4551284" cy="1396014"/>
          </a:xfrm>
        </p:spPr>
        <p:txBody>
          <a:bodyPr/>
          <a:lstStyle/>
          <a:p>
            <a:pPr algn="ctr">
              <a:spcAft>
                <a:spcPts val="300"/>
              </a:spcAft>
            </a:pPr>
            <a:r>
              <a:rPr lang="en-US" sz="1800" b="1" dirty="0">
                <a:solidFill>
                  <a:srgbClr val="0070C0"/>
                </a:solidFill>
              </a:rPr>
              <a:t>Team 18 – Team Members</a:t>
            </a:r>
          </a:p>
          <a:p>
            <a:pPr algn="ctr">
              <a:spcAft>
                <a:spcPts val="0"/>
              </a:spcAft>
            </a:pPr>
            <a:r>
              <a:rPr lang="en-US" sz="1600" dirty="0">
                <a:solidFill>
                  <a:srgbClr val="0070C0"/>
                </a:solidFill>
              </a:rPr>
              <a:t>PUTTI MONISH</a:t>
            </a:r>
          </a:p>
          <a:p>
            <a:pPr algn="ctr">
              <a:spcAft>
                <a:spcPts val="300"/>
              </a:spcAft>
            </a:pPr>
            <a:r>
              <a:rPr lang="en-US" sz="1400" dirty="0">
                <a:solidFill>
                  <a:srgbClr val="0070C0"/>
                </a:solidFill>
              </a:rPr>
              <a:t>Roll No.: 2520030595</a:t>
            </a:r>
          </a:p>
          <a:p>
            <a:pPr algn="ctr">
              <a:spcAft>
                <a:spcPts val="0"/>
              </a:spcAft>
            </a:pPr>
            <a:r>
              <a:rPr lang="en-US" sz="1600" dirty="0">
                <a:solidFill>
                  <a:srgbClr val="0070C0"/>
                </a:solidFill>
              </a:rPr>
              <a:t>DUMPALA HEMASAI</a:t>
            </a:r>
          </a:p>
          <a:p>
            <a:pPr algn="ctr">
              <a:spcAft>
                <a:spcPts val="300"/>
              </a:spcAft>
            </a:pPr>
            <a:r>
              <a:rPr lang="en-US" sz="1400" dirty="0">
                <a:solidFill>
                  <a:srgbClr val="0070C0"/>
                </a:solidFill>
              </a:rPr>
              <a:t>Roll No.: 2520030599</a:t>
            </a:r>
          </a:p>
          <a:p>
            <a:pPr algn="ctr">
              <a:spcAft>
                <a:spcPts val="0"/>
              </a:spcAft>
            </a:pPr>
            <a:r>
              <a:rPr lang="en-US" sz="1600" dirty="0">
                <a:solidFill>
                  <a:srgbClr val="0070C0"/>
                </a:solidFill>
              </a:rPr>
              <a:t>MUTHANA NIKHIL REDDY</a:t>
            </a:r>
          </a:p>
          <a:p>
            <a:pPr algn="ctr">
              <a:spcAft>
                <a:spcPts val="300"/>
              </a:spcAft>
            </a:pPr>
            <a:r>
              <a:rPr lang="en-US" sz="1400" dirty="0">
                <a:solidFill>
                  <a:srgbClr val="0070C0"/>
                </a:solidFill>
              </a:rPr>
              <a:t>Roll No.: 2520030560</a:t>
            </a:r>
          </a:p>
          <a:p>
            <a:pPr marL="171450" algn="ctr">
              <a:lnSpc>
                <a:spcPct val="107000"/>
              </a:lnSpc>
              <a:spcAft>
                <a:spcPts val="800"/>
              </a:spcAft>
            </a:pPr>
            <a:endPar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endParaRPr>
          </a:p>
          <a:p>
            <a:pPr marL="171450" algn="ctr">
              <a:lnSpc>
                <a:spcPct val="107000"/>
              </a:lnSpc>
              <a:spcAft>
                <a:spcPts val="800"/>
              </a:spcAft>
            </a:pPr>
            <a:r>
              <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Under the Esteemed Guidance of</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pPr algn="ctr">
              <a:lnSpc>
                <a:spcPct val="107000"/>
              </a:lnSpc>
              <a:spcAft>
                <a:spcPts val="800"/>
              </a:spcAft>
            </a:pPr>
            <a:r>
              <a:rPr lang="en-US" sz="1800" b="1"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Dr. V. Sireesha</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endParaRPr lang="en-US" dirty="0">
              <a:solidFill>
                <a:srgbClr val="0070C0"/>
              </a:solidFill>
            </a:endParaRPr>
          </a:p>
          <a:p>
            <a:endParaRPr lang="en-US" b="1" dirty="0">
              <a:solidFill>
                <a:srgbClr val="C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C70C049-38C4-198F-3181-AACE07DE24AE}"/>
              </a:ext>
            </a:extLst>
          </p:cNvPr>
          <p:cNvSpPr txBox="1"/>
          <p:nvPr/>
        </p:nvSpPr>
        <p:spPr>
          <a:xfrm>
            <a:off x="3736109" y="806448"/>
            <a:ext cx="6936386" cy="5835572"/>
          </a:xfrm>
          <a:prstGeom prst="rect">
            <a:avLst/>
          </a:prstGeom>
          <a:noFill/>
        </p:spPr>
        <p:txBody>
          <a:bodyPr wrap="none" rtlCol="0">
            <a:spAutoFit/>
          </a:bodyPr>
          <a:lstStyle/>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Abstract</a:t>
            </a:r>
          </a:p>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Introduction</a:t>
            </a:r>
            <a:endParaRPr lang="en-IN" sz="3200" b="0" i="0" u="none" strike="noStrike" dirty="0">
              <a:effectLst/>
              <a:latin typeface="Arial" panose="020B0604020202020204" pitchFamily="34" charset="0"/>
            </a:endParaRPr>
          </a:p>
          <a:p>
            <a:pPr marL="457200" indent="-457200" algn="l" rtl="0" eaLnBrk="1" fontAlgn="t" latinLnBrk="0" hangingPunct="1">
              <a:lnSpc>
                <a:spcPct val="150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Literature survey</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Problem Statement and Objectives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Hardware and Software requirements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Results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Conclusion </a:t>
            </a: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Future Scope </a:t>
            </a:r>
            <a:endParaRPr lang="en-IN" sz="3200" b="0" i="0" u="none" strike="noStrike" dirty="0">
              <a:effectLst/>
              <a:latin typeface="Arial" panose="020B0604020202020204" pitchFamily="34" charset="0"/>
            </a:endParaRPr>
          </a:p>
          <a:p>
            <a:endParaRPr lang="en-IN" dirty="0"/>
          </a:p>
        </p:txBody>
      </p:sp>
      <p:sp>
        <p:nvSpPr>
          <p:cNvPr id="8" name="Rectangle: Rounded Corners 7">
            <a:extLst>
              <a:ext uri="{FF2B5EF4-FFF2-40B4-BE49-F238E27FC236}">
                <a16:creationId xmlns:a16="http://schemas.microsoft.com/office/drawing/2014/main" id="{3EAC2F32-24D5-FDE9-EB0F-31C7733C95E6}"/>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CA499C0-FC38-6642-1E16-B8CFFC9C9314}"/>
              </a:ext>
            </a:extLst>
          </p:cNvPr>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Contents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Abstract</a:t>
            </a:r>
          </a:p>
        </p:txBody>
      </p:sp>
      <p:sp>
        <p:nvSpPr>
          <p:cNvPr id="4" name="TextBox Body"/>
          <p:cNvSpPr txBox="1"/>
          <p:nvPr/>
        </p:nvSpPr>
        <p:spPr>
          <a:xfrm>
            <a:off x="838200" y="1143000"/>
            <a:ext cx="10515600" cy="4800600"/>
          </a:xfrm>
          <a:prstGeom prst="rect">
            <a:avLst/>
          </a:prstGeom>
          <a:noFill/>
        </p:spPr>
        <p:txBody>
          <a:bodyPr wrap="square" anchor="t">
            <a:normAutofit/>
          </a:bodyPr>
          <a:lstStyle/>
          <a:p>
            <a:pPr algn="just">
              <a:lnSpc>
                <a:spcPct val="130000"/>
              </a:lnSpc>
            </a:pPr>
            <a:r>
              <a:rPr lang="en-US" sz="2000" dirty="0">
                <a:latin typeface="Calibri" panose="020F0502020204030204" pitchFamily="34" charset="0"/>
              </a:rPr>
              <a:t>Pharma Search is a Java-based medicine search system that uses file handling and Data Structures and Algorithms to search a medicine corpus stored in a TXT file. The system implements KMP pattern matching for exact text search, Levenshtein distance for fuzzy search, and cosine similarity for similarity-based ranking. The project demonstrates the practical application of searching techniques on structured medicine records without using a database.</a:t>
            </a:r>
          </a:p>
        </p:txBody>
      </p:sp>
    </p:spTree>
    <p:extLst>
      <p:ext uri="{BB962C8B-B14F-4D97-AF65-F5344CB8AC3E}">
        <p14:creationId xmlns:p14="http://schemas.microsoft.com/office/powerpoint/2010/main" val="1672422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Introduction</a:t>
            </a:r>
          </a:p>
        </p:txBody>
      </p:sp>
      <p:sp>
        <p:nvSpPr>
          <p:cNvPr id="4" name="TextBox Body"/>
          <p:cNvSpPr txBox="1"/>
          <p:nvPr/>
        </p:nvSpPr>
        <p:spPr>
          <a:xfrm>
            <a:off x="838200" y="1143000"/>
            <a:ext cx="10515600" cy="4800600"/>
          </a:xfrm>
          <a:prstGeom prst="rect">
            <a:avLst/>
          </a:prstGeom>
          <a:noFill/>
        </p:spPr>
        <p:txBody>
          <a:bodyPr wrap="square" anchor="t">
            <a:normAutofit/>
          </a:bodyPr>
          <a:lstStyle/>
          <a:p>
            <a:pPr algn="just">
              <a:lnSpc>
                <a:spcPct val="130000"/>
              </a:lnSpc>
            </a:pPr>
            <a:r>
              <a:rPr lang="en-US" sz="2000" dirty="0">
                <a:latin typeface="Calibri" panose="020F0502020204030204" pitchFamily="34" charset="0"/>
              </a:rPr>
              <a:t>Pharma Search provides a simple search system for medicine information stored as structured text records. Each record contains details such as medicine name, manufacturer, dosage, category, uses and substitutes. The application reads the corpus using Java file handling and applies different searching techniques according to the user’s query. The project demonstrates the use of Data Structures and Algorithms for exact, fuzzy and similarity-based search.</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Literature Survey</a:t>
            </a:r>
          </a:p>
        </p:txBody>
      </p:sp>
      <p:sp>
        <p:nvSpPr>
          <p:cNvPr id="4" name="TextBox Body"/>
          <p:cNvSpPr txBox="1"/>
          <p:nvPr/>
        </p:nvSpPr>
        <p:spPr>
          <a:xfrm>
            <a:off x="838200" y="1067435"/>
            <a:ext cx="10515600" cy="5400000"/>
          </a:xfrm>
          <a:prstGeom prst="rect">
            <a:avLst/>
          </a:prstGeom>
          <a:noFill/>
        </p:spPr>
        <p:txBody>
          <a:bodyPr wrap="square" anchor="t">
            <a:normAutofit/>
          </a:bodyPr>
          <a:lstStyle/>
          <a:p>
            <a:pPr>
              <a:lnSpc>
                <a:spcPct val="115000"/>
              </a:lnSpc>
              <a:spcAft>
                <a:spcPts val="1200"/>
              </a:spcAft>
            </a:pPr>
            <a:r>
              <a:rPr lang="en-US" sz="1900" b="1" dirty="0">
                <a:solidFill>
                  <a:srgbClr val="C00000"/>
                </a:solidFill>
                <a:latin typeface="Calibri" panose="020F0502020204030204" pitchFamily="34" charset="0"/>
              </a:rPr>
              <a:t>KMP Pattern Matching: </a:t>
            </a:r>
            <a:r>
              <a:rPr lang="en-US" sz="1900" dirty="0">
                <a:latin typeface="Calibri" panose="020F0502020204030204" pitchFamily="34" charset="0"/>
              </a:rPr>
              <a:t>Knuth-Morris-Pratt uses a prefix/LPS table to perform efficient exact pattern matching without repeatedly comparing already matched characters.</a:t>
            </a:r>
          </a:p>
          <a:p>
            <a:pPr>
              <a:lnSpc>
                <a:spcPct val="115000"/>
              </a:lnSpc>
              <a:spcAft>
                <a:spcPts val="1200"/>
              </a:spcAft>
            </a:pPr>
            <a:r>
              <a:rPr lang="en-US" sz="1900" b="1" dirty="0">
                <a:solidFill>
                  <a:srgbClr val="C00000"/>
                </a:solidFill>
                <a:latin typeface="Calibri" panose="020F0502020204030204" pitchFamily="34" charset="0"/>
              </a:rPr>
              <a:t>Levenshtein Distance: </a:t>
            </a:r>
            <a:r>
              <a:rPr lang="en-US" sz="1900" dirty="0">
                <a:latin typeface="Calibri" panose="020F0502020204030204" pitchFamily="34" charset="0"/>
              </a:rPr>
              <a:t>Measures the minimum number of insertions, deletions and substitutions required to transform one string into another. It is useful for fuzzy search and handling spelling variations.</a:t>
            </a:r>
          </a:p>
          <a:p>
            <a:pPr>
              <a:lnSpc>
                <a:spcPct val="115000"/>
              </a:lnSpc>
              <a:spcAft>
                <a:spcPts val="1200"/>
              </a:spcAft>
            </a:pPr>
            <a:r>
              <a:rPr lang="en-US" sz="1900" b="1" dirty="0">
                <a:solidFill>
                  <a:srgbClr val="C00000"/>
                </a:solidFill>
                <a:latin typeface="Calibri" panose="020F0502020204030204" pitchFamily="34" charset="0"/>
              </a:rPr>
              <a:t>Cosine Similarity: </a:t>
            </a:r>
            <a:r>
              <a:rPr lang="en-US" sz="1900" dirty="0">
                <a:latin typeface="Calibri" panose="020F0502020204030204" pitchFamily="34" charset="0"/>
              </a:rPr>
              <a:t>Compares vector representations of text and measures how closely a search query is related to medicine records.</a:t>
            </a:r>
          </a:p>
          <a:p>
            <a:pPr>
              <a:lnSpc>
                <a:spcPct val="115000"/>
              </a:lnSpc>
            </a:pPr>
            <a:r>
              <a:rPr lang="en-US" sz="1900" b="1" dirty="0">
                <a:solidFill>
                  <a:srgbClr val="C00000"/>
                </a:solidFill>
                <a:latin typeface="Calibri" panose="020F0502020204030204" pitchFamily="34" charset="0"/>
              </a:rPr>
              <a:t>File Handling: </a:t>
            </a:r>
            <a:r>
              <a:rPr lang="en-US" sz="1900" dirty="0">
                <a:latin typeface="Calibri" panose="020F0502020204030204" pitchFamily="34" charset="0"/>
              </a:rPr>
              <a:t>Java file handling is used to store and retrieve the medicine corpus from a TXT file.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2660072" y="221673"/>
            <a:ext cx="6723625" cy="65579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92694"/>
            <a:ext cx="6871855" cy="584775"/>
          </a:xfrm>
          <a:prstGeom prst="rect">
            <a:avLst/>
          </a:prstGeom>
          <a:noFill/>
        </p:spPr>
        <p:txBody>
          <a:bodyPr wrap="square" rtlCol="0">
            <a:spAutoFit/>
          </a:bodyPr>
          <a:lstStyle/>
          <a:p>
            <a:pPr algn="ctr"/>
            <a:r>
              <a:rPr lang="en-US" sz="3200" b="1" dirty="0">
                <a:solidFill>
                  <a:schemeClr val="bg1"/>
                </a:solidFill>
              </a:rPr>
              <a:t>Problem Statement and Objectives</a:t>
            </a:r>
          </a:p>
        </p:txBody>
      </p:sp>
      <p:sp>
        <p:nvSpPr>
          <p:cNvPr id="4" name="TextBox Body"/>
          <p:cNvSpPr txBox="1"/>
          <p:nvPr/>
        </p:nvSpPr>
        <p:spPr>
          <a:xfrm>
            <a:off x="838200" y="1067435"/>
            <a:ext cx="10515600" cy="5400000"/>
          </a:xfrm>
          <a:prstGeom prst="rect">
            <a:avLst/>
          </a:prstGeom>
          <a:noFill/>
        </p:spPr>
        <p:txBody>
          <a:bodyPr wrap="square" anchor="t">
            <a:normAutofit/>
          </a:bodyPr>
          <a:lstStyle/>
          <a:p>
            <a:pPr>
              <a:lnSpc>
                <a:spcPct val="120000"/>
              </a:lnSpc>
              <a:spcAft>
                <a:spcPts val="1000"/>
              </a:spcAft>
            </a:pPr>
            <a:r>
              <a:rPr lang="en-US" sz="1900" b="1" dirty="0">
                <a:solidFill>
                  <a:srgbClr val="C00000"/>
                </a:solidFill>
                <a:latin typeface="Calibri" panose="020F0502020204030204" pitchFamily="34" charset="0"/>
              </a:rPr>
              <a:t>Problem Statement</a:t>
            </a:r>
          </a:p>
          <a:p>
            <a:pPr algn="just">
              <a:lnSpc>
                <a:spcPct val="120000"/>
              </a:lnSpc>
              <a:spcAft>
                <a:spcPts val="1400"/>
              </a:spcAft>
            </a:pPr>
            <a:r>
              <a:rPr lang="en-US" sz="1900" dirty="0">
                <a:latin typeface="Calibri" panose="020F0502020204030204" pitchFamily="34" charset="0"/>
              </a:rPr>
              <a:t>Searching medicine information using simple text scanning may not handle spelling variations or related search queries effectively. A lightweight search system is required that can work directly on a text corpus and apply different searching techniques.</a:t>
            </a:r>
          </a:p>
          <a:p>
            <a:pPr>
              <a:lnSpc>
                <a:spcPct val="120000"/>
              </a:lnSpc>
              <a:spcAft>
                <a:spcPts val="600"/>
              </a:spcAft>
            </a:pPr>
            <a:r>
              <a:rPr lang="en-US" sz="1900" b="1" dirty="0">
                <a:solidFill>
                  <a:srgbClr val="C00000"/>
                </a:solidFill>
                <a:latin typeface="Calibri" panose="020F0502020204030204" pitchFamily="34" charset="0"/>
              </a:rPr>
              <a:t>Objectives</a:t>
            </a:r>
          </a:p>
          <a:p>
            <a:pPr marL="342900" indent="-342900">
              <a:lnSpc>
                <a:spcPct val="115000"/>
              </a:lnSpc>
              <a:spcAft>
                <a:spcPts val="400"/>
              </a:spcAft>
              <a:buFont typeface="Arial" panose="020B0604020202020204" pitchFamily="34" charset="0"/>
              <a:buChar char="•"/>
            </a:pPr>
            <a:r>
              <a:rPr lang="en-US" sz="1800" dirty="0">
                <a:latin typeface="Calibri" panose="020F0502020204030204" pitchFamily="34" charset="0"/>
              </a:rPr>
              <a:t>Develop a Java-based medicine search system using a TXT corpus.</a:t>
            </a:r>
          </a:p>
          <a:p>
            <a:pPr marL="342900" indent="-342900">
              <a:lnSpc>
                <a:spcPct val="115000"/>
              </a:lnSpc>
              <a:spcAft>
                <a:spcPts val="400"/>
              </a:spcAft>
              <a:buFont typeface="Arial" panose="020B0604020202020204" pitchFamily="34" charset="0"/>
              <a:buChar char="•"/>
            </a:pPr>
            <a:r>
              <a:rPr lang="en-US" sz="1800" dirty="0">
                <a:latin typeface="Calibri" panose="020F0502020204030204" pitchFamily="34" charset="0"/>
              </a:rPr>
              <a:t>Implement KMP pattern matching for exact pattern search.</a:t>
            </a:r>
          </a:p>
          <a:p>
            <a:pPr marL="342900" indent="-342900">
              <a:lnSpc>
                <a:spcPct val="115000"/>
              </a:lnSpc>
              <a:spcAft>
                <a:spcPts val="400"/>
              </a:spcAft>
              <a:buFont typeface="Arial" panose="020B0604020202020204" pitchFamily="34" charset="0"/>
              <a:buChar char="•"/>
            </a:pPr>
            <a:r>
              <a:rPr lang="en-US" sz="1800" dirty="0">
                <a:latin typeface="Calibri" panose="020F0502020204030204" pitchFamily="34" charset="0"/>
              </a:rPr>
              <a:t>Implement fuzzy search using Levenshtein distance.</a:t>
            </a:r>
          </a:p>
          <a:p>
            <a:pPr marL="342900" indent="-342900">
              <a:lnSpc>
                <a:spcPct val="115000"/>
              </a:lnSpc>
              <a:spcAft>
                <a:spcPts val="400"/>
              </a:spcAft>
              <a:buFont typeface="Arial" panose="020B0604020202020204" pitchFamily="34" charset="0"/>
              <a:buChar char="•"/>
            </a:pPr>
            <a:r>
              <a:rPr lang="en-US" sz="1800" dirty="0">
                <a:latin typeface="Calibri" panose="020F0502020204030204" pitchFamily="34" charset="0"/>
              </a:rPr>
              <a:t>Implement similarity search using cosine similarity.</a:t>
            </a:r>
          </a:p>
          <a:p>
            <a:pPr marL="342900" indent="-342900">
              <a:lnSpc>
                <a:spcPct val="115000"/>
              </a:lnSpc>
              <a:spcAft>
                <a:spcPts val="400"/>
              </a:spcAft>
              <a:buFont typeface="Arial" panose="020B0604020202020204" pitchFamily="34" charset="0"/>
              <a:buChar char="•"/>
            </a:pPr>
            <a:r>
              <a:rPr lang="en-US" sz="1800" dirty="0">
                <a:latin typeface="Calibri" panose="020F0502020204030204" pitchFamily="34" charset="0"/>
              </a:rPr>
              <a:t>Read and process medicine records using Java file handling.</a:t>
            </a:r>
          </a:p>
          <a:p>
            <a:pPr marL="342900" indent="-342900">
              <a:lnSpc>
                <a:spcPct val="115000"/>
              </a:lnSpc>
              <a:buFont typeface="Arial" panose="020B0604020202020204" pitchFamily="34" charset="0"/>
              <a:buChar char="•"/>
            </a:pPr>
            <a:r>
              <a:rPr lang="en-US" sz="1800" dirty="0">
                <a:latin typeface="Calibri" panose="020F0502020204030204" pitchFamily="34" charset="0"/>
              </a:rPr>
              <a:t>Display relevant medicine records based on the user’s query.</a:t>
            </a:r>
          </a:p>
        </p:txBody>
      </p:sp>
    </p:spTree>
    <p:extLst>
      <p:ext uri="{BB962C8B-B14F-4D97-AF65-F5344CB8AC3E}">
        <p14:creationId xmlns:p14="http://schemas.microsoft.com/office/powerpoint/2010/main" val="34410266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Flow Chart</a:t>
            </a:r>
          </a:p>
        </p:txBody>
      </p:sp>
      <p:sp>
        <p:nvSpPr>
          <p:cNvPr id="10" name="Start"/>
          <p:cNvSpPr/>
          <p:nvPr/>
        </p:nvSpPr>
        <p:spPr>
          <a:xfrm>
            <a:off x="4996000" y="880000"/>
            <a:ext cx="2200000" cy="420000"/>
          </a:xfrm>
          <a:prstGeom prst="ellipse">
            <a:avLst/>
          </a:prstGeom>
          <a:solidFill>
            <a:srgbClr val="404040"/>
          </a:solidFill>
          <a:ln w="12700">
            <a:solidFill>
              <a:srgbClr val="222222"/>
            </a:solidFill>
          </a:ln>
        </p:spPr>
        <p:txBody>
          <a:bodyPr rtlCol="0" anchor="ctr" wrap="square">
            <a:normAutofit/>
          </a:bodyPr>
          <a:lstStyle/>
          <a:p>
            <a:pPr algn="ctr"/>
            <a:r>
              <a:rPr lang="en-US" sz="1400" b="1" dirty="0">
                <a:solidFill>
                  <a:srgbClr val="FFFFFF"/>
                </a:solidFill>
                <a:latin typeface="Calibri" panose="020F0502020204030204" pitchFamily="34" charset="0"/>
              </a:rPr>
              <a:t>Start</a:t>
            </a:r>
          </a:p>
        </p:txBody>
      </p:sp>
      <p:cxnSp>
        <p:nvCxnSpPr>
          <p:cNvPr id="11" name="arr1"/>
          <p:cNvCxnSpPr/>
          <p:nvPr/>
        </p:nvCxnSpPr>
        <p:spPr>
          <a:xfrm flipH="0" flipV="0">
            <a:off x="6096000" y="1300000"/>
            <a:ext cx="1" cy="150000"/>
          </a:xfrm>
          <a:prstGeom prst="line">
            <a:avLst/>
          </a:prstGeom>
          <a:ln w="19050">
            <a:solidFill>
              <a:srgbClr val="C00000"/>
            </a:solidFill>
            <a:tailEnd type="triangle" w="med" len="med"/>
          </a:ln>
        </p:spPr>
      </p:cxnSp>
      <p:sp>
        <p:nvSpPr>
          <p:cNvPr id="12" name="ReadCorpus"/>
          <p:cNvSpPr/>
          <p:nvPr/>
        </p:nvSpPr>
        <p:spPr>
          <a:xfrm>
            <a:off x="4196000" y="1450000"/>
            <a:ext cx="3800000" cy="450000"/>
          </a:xfrm>
          <a:prstGeom prst="roundRect">
            <a:avLst>
              <a:gd name="adj" fmla="val 12000"/>
            </a:avLst>
          </a:prstGeom>
          <a:solidFill>
            <a:srgbClr val="C00000"/>
          </a:solidFill>
          <a:ln w="12700">
            <a:solidFill>
              <a:srgbClr val="7A0000"/>
            </a:solidFill>
          </a:ln>
        </p:spPr>
        <p:txBody>
          <a:bodyPr rtlCol="0" anchor="ctr" wrap="square">
            <a:normAutofit/>
          </a:bodyPr>
          <a:lstStyle/>
          <a:p>
            <a:pPr algn="ctr"/>
            <a:r>
              <a:rPr lang="en-US" sz="1400" dirty="0">
                <a:solidFill>
                  <a:srgbClr val="FFFFFF"/>
                </a:solidFill>
                <a:latin typeface="Calibri" panose="020F0502020204030204" pitchFamily="34" charset="0"/>
              </a:rPr>
              <a:t>Read medicines.txt corpus</a:t>
            </a:r>
          </a:p>
        </p:txBody>
      </p:sp>
      <p:cxnSp>
        <p:nvCxnSpPr>
          <p:cNvPr id="13" name="arr2"/>
          <p:cNvCxnSpPr/>
          <p:nvPr/>
        </p:nvCxnSpPr>
        <p:spPr>
          <a:xfrm flipH="0" flipV="0">
            <a:off x="6096000" y="1900000"/>
            <a:ext cx="1" cy="140000"/>
          </a:xfrm>
          <a:prstGeom prst="line">
            <a:avLst/>
          </a:prstGeom>
          <a:ln w="19050">
            <a:solidFill>
              <a:srgbClr val="C00000"/>
            </a:solidFill>
            <a:tailEnd type="triangle" w="med" len="med"/>
          </a:ln>
        </p:spPr>
      </p:cxnSp>
      <p:sp>
        <p:nvSpPr>
          <p:cNvPr id="14" name="LoadRecords"/>
          <p:cNvSpPr/>
          <p:nvPr/>
        </p:nvSpPr>
        <p:spPr>
          <a:xfrm>
            <a:off x="4196000" y="2040000"/>
            <a:ext cx="3800000" cy="450000"/>
          </a:xfrm>
          <a:prstGeom prst="roundRect">
            <a:avLst>
              <a:gd name="adj" fmla="val 12000"/>
            </a:avLst>
          </a:prstGeom>
          <a:solidFill>
            <a:srgbClr val="C00000"/>
          </a:solidFill>
          <a:ln w="12700">
            <a:solidFill>
              <a:srgbClr val="7A0000"/>
            </a:solidFill>
          </a:ln>
        </p:spPr>
        <p:txBody>
          <a:bodyPr rtlCol="0" anchor="ctr" wrap="square">
            <a:normAutofit/>
          </a:bodyPr>
          <a:lstStyle/>
          <a:p>
            <a:pPr algn="ctr"/>
            <a:r>
              <a:rPr lang="en-US" sz="1400" dirty="0">
                <a:solidFill>
                  <a:srgbClr val="FFFFFF"/>
                </a:solidFill>
                <a:latin typeface="Calibri" panose="020F0502020204030204" pitchFamily="34" charset="0"/>
              </a:rPr>
              <a:t>Load medicine records</a:t>
            </a:r>
          </a:p>
        </p:txBody>
      </p:sp>
      <p:cxnSp>
        <p:nvCxnSpPr>
          <p:cNvPr id="15" name="arr3"/>
          <p:cNvCxnSpPr/>
          <p:nvPr/>
        </p:nvCxnSpPr>
        <p:spPr>
          <a:xfrm flipH="0" flipV="0">
            <a:off x="6096000" y="2490000"/>
            <a:ext cx="1" cy="140000"/>
          </a:xfrm>
          <a:prstGeom prst="line">
            <a:avLst/>
          </a:prstGeom>
          <a:ln w="19050">
            <a:solidFill>
              <a:srgbClr val="C00000"/>
            </a:solidFill>
            <a:tailEnd type="triangle" w="med" len="med"/>
          </a:ln>
        </p:spPr>
      </p:cxnSp>
      <p:sp>
        <p:nvSpPr>
          <p:cNvPr id="16" name="EnterQuery"/>
          <p:cNvSpPr/>
          <p:nvPr/>
        </p:nvSpPr>
        <p:spPr>
          <a:xfrm>
            <a:off x="4196000" y="2630000"/>
            <a:ext cx="3800000" cy="450000"/>
          </a:xfrm>
          <a:prstGeom prst="roundRect">
            <a:avLst>
              <a:gd name="adj" fmla="val 12000"/>
            </a:avLst>
          </a:prstGeom>
          <a:solidFill>
            <a:srgbClr val="C00000"/>
          </a:solidFill>
          <a:ln w="12700">
            <a:solidFill>
              <a:srgbClr val="7A0000"/>
            </a:solidFill>
          </a:ln>
        </p:spPr>
        <p:txBody>
          <a:bodyPr rtlCol="0" anchor="ctr" wrap="square">
            <a:normAutofit/>
          </a:bodyPr>
          <a:lstStyle/>
          <a:p>
            <a:pPr algn="ctr"/>
            <a:r>
              <a:rPr lang="en-US" sz="1400" dirty="0">
                <a:solidFill>
                  <a:srgbClr val="FFFFFF"/>
                </a:solidFill>
                <a:latin typeface="Calibri" panose="020F0502020204030204" pitchFamily="34" charset="0"/>
              </a:rPr>
              <a:t>Enter user query</a:t>
            </a:r>
          </a:p>
        </p:txBody>
      </p:sp>
      <p:cxnSp>
        <p:nvCxnSpPr>
          <p:cNvPr id="17" name="arr4"/>
          <p:cNvCxnSpPr/>
          <p:nvPr/>
        </p:nvCxnSpPr>
        <p:spPr>
          <a:xfrm flipH="0" flipV="0">
            <a:off x="6096000" y="3080000"/>
            <a:ext cx="1" cy="140000"/>
          </a:xfrm>
          <a:prstGeom prst="line">
            <a:avLst/>
          </a:prstGeom>
          <a:ln w="19050">
            <a:solidFill>
              <a:srgbClr val="C00000"/>
            </a:solidFill>
            <a:tailEnd type="triangle" w="med" len="med"/>
          </a:ln>
        </p:spPr>
      </p:cxnSp>
      <p:sp>
        <p:nvSpPr>
          <p:cNvPr id="18" name="SelectMethod"/>
          <p:cNvSpPr/>
          <p:nvPr/>
        </p:nvSpPr>
        <p:spPr>
          <a:xfrm>
            <a:off x="4196000" y="3220000"/>
            <a:ext cx="3800000" cy="450000"/>
          </a:xfrm>
          <a:prstGeom prst="roundRect">
            <a:avLst>
              <a:gd name="adj" fmla="val 12000"/>
            </a:avLst>
          </a:prstGeom>
          <a:solidFill>
            <a:srgbClr val="C00000"/>
          </a:solidFill>
          <a:ln w="12700">
            <a:solidFill>
              <a:srgbClr val="7A0000"/>
            </a:solidFill>
          </a:ln>
        </p:spPr>
        <p:txBody>
          <a:bodyPr rtlCol="0" anchor="ctr" wrap="square">
            <a:normAutofit/>
          </a:bodyPr>
          <a:lstStyle/>
          <a:p>
            <a:pPr algn="ctr"/>
            <a:r>
              <a:rPr lang="en-US" sz="1400" dirty="0">
                <a:solidFill>
                  <a:srgbClr val="FFFFFF"/>
                </a:solidFill>
                <a:latin typeface="Calibri" panose="020F0502020204030204" pitchFamily="34" charset="0"/>
              </a:rPr>
              <a:t>Select search method</a:t>
            </a:r>
          </a:p>
        </p:txBody>
      </p:sp>
      <p:cxnSp>
        <p:nvCxnSpPr>
          <p:cNvPr id="19" name="arrB1"/>
          <p:cNvCxnSpPr/>
          <p:nvPr/>
        </p:nvCxnSpPr>
        <p:spPr>
          <a:xfrm flipH="1" flipV="0">
            <a:off x="2396000" y="3670000"/>
            <a:ext cx="3700000" cy="180000"/>
          </a:xfrm>
          <a:prstGeom prst="line">
            <a:avLst/>
          </a:prstGeom>
          <a:ln w="19050">
            <a:solidFill>
              <a:srgbClr val="C00000"/>
            </a:solidFill>
            <a:tailEnd type="triangle" w="med" len="med"/>
          </a:ln>
        </p:spPr>
      </p:cxnSp>
      <p:cxnSp>
        <p:nvCxnSpPr>
          <p:cNvPr id="20" name="arrB2"/>
          <p:cNvCxnSpPr/>
          <p:nvPr/>
        </p:nvCxnSpPr>
        <p:spPr>
          <a:xfrm flipH="0" flipV="0">
            <a:off x="6096000" y="3670000"/>
            <a:ext cx="1" cy="180000"/>
          </a:xfrm>
          <a:prstGeom prst="line">
            <a:avLst/>
          </a:prstGeom>
          <a:ln w="19050">
            <a:solidFill>
              <a:srgbClr val="C00000"/>
            </a:solidFill>
            <a:tailEnd type="triangle" w="med" len="med"/>
          </a:ln>
        </p:spPr>
      </p:cxnSp>
      <p:cxnSp>
        <p:nvCxnSpPr>
          <p:cNvPr id="21" name="arrB3"/>
          <p:cNvCxnSpPr/>
          <p:nvPr/>
        </p:nvCxnSpPr>
        <p:spPr>
          <a:xfrm flipH="0" flipV="0">
            <a:off x="6096000" y="3670000"/>
            <a:ext cx="3700000" cy="180000"/>
          </a:xfrm>
          <a:prstGeom prst="line">
            <a:avLst/>
          </a:prstGeom>
          <a:ln w="19050">
            <a:solidFill>
              <a:srgbClr val="C00000"/>
            </a:solidFill>
            <a:tailEnd type="triangle" w="med" len="med"/>
          </a:ln>
        </p:spPr>
      </p:cxnSp>
      <p:sp>
        <p:nvSpPr>
          <p:cNvPr id="22" name="KMPBox"/>
          <p:cNvSpPr/>
          <p:nvPr/>
        </p:nvSpPr>
        <p:spPr>
          <a:xfrm>
            <a:off x="696000" y="3850000"/>
            <a:ext cx="3400000" cy="600000"/>
          </a:xfrm>
          <a:prstGeom prst="roundRect">
            <a:avLst>
              <a:gd name="adj" fmla="val 12000"/>
            </a:avLst>
          </a:prstGeom>
          <a:solidFill>
            <a:srgbClr val="C00000"/>
          </a:solidFill>
          <a:ln w="12700">
            <a:solidFill>
              <a:srgbClr val="7A0000"/>
            </a:solidFill>
          </a:ln>
        </p:spPr>
        <p:txBody>
          <a:bodyPr rtlCol="0" anchor="ctr" wrap="square">
            <a:normAutofit/>
          </a:bodyPr>
          <a:lstStyle/>
          <a:p>
            <a:pPr algn="ctr"/>
            <a:r>
              <a:rPr lang="en-US" sz="1300" dirty="0">
                <a:solidFill>
                  <a:srgbClr val="FFFFFF"/>
                </a:solidFill>
                <a:latin typeface="Calibri" panose="020F0502020204030204" pitchFamily="34" charset="0"/>
              </a:rPr>
              <a:t>KMP Pattern Matching</a:t>
            </a:r>
          </a:p>
        </p:txBody>
      </p:sp>
      <p:sp>
        <p:nvSpPr>
          <p:cNvPr id="23" name="LevBox"/>
          <p:cNvSpPr/>
          <p:nvPr/>
        </p:nvSpPr>
        <p:spPr>
          <a:xfrm>
            <a:off x="4396000" y="3850000"/>
            <a:ext cx="3400000" cy="600000"/>
          </a:xfrm>
          <a:prstGeom prst="roundRect">
            <a:avLst>
              <a:gd name="adj" fmla="val 12000"/>
            </a:avLst>
          </a:prstGeom>
          <a:solidFill>
            <a:srgbClr val="C00000"/>
          </a:solidFill>
          <a:ln w="12700">
            <a:solidFill>
              <a:srgbClr val="7A0000"/>
            </a:solidFill>
          </a:ln>
        </p:spPr>
        <p:txBody>
          <a:bodyPr rtlCol="0" anchor="ctr" wrap="square">
            <a:normAutofit/>
          </a:bodyPr>
          <a:lstStyle/>
          <a:p>
            <a:pPr algn="ctr"/>
            <a:r>
              <a:rPr lang="en-US" sz="1300" dirty="0">
                <a:solidFill>
                  <a:srgbClr val="FFFFFF"/>
                </a:solidFill>
                <a:latin typeface="Calibri" panose="020F0502020204030204" pitchFamily="34" charset="0"/>
              </a:rPr>
              <a:t>Levenshtein Fuzzy Search</a:t>
            </a:r>
          </a:p>
        </p:txBody>
      </p:sp>
      <p:sp>
        <p:nvSpPr>
          <p:cNvPr id="24" name="CosBox"/>
          <p:cNvSpPr/>
          <p:nvPr/>
        </p:nvSpPr>
        <p:spPr>
          <a:xfrm>
            <a:off x="8096000" y="3850000"/>
            <a:ext cx="3400000" cy="600000"/>
          </a:xfrm>
          <a:prstGeom prst="roundRect">
            <a:avLst>
              <a:gd name="adj" fmla="val 12000"/>
            </a:avLst>
          </a:prstGeom>
          <a:solidFill>
            <a:srgbClr val="C00000"/>
          </a:solidFill>
          <a:ln w="12700">
            <a:solidFill>
              <a:srgbClr val="7A0000"/>
            </a:solidFill>
          </a:ln>
        </p:spPr>
        <p:txBody>
          <a:bodyPr rtlCol="0" anchor="ctr" wrap="square">
            <a:normAutofit/>
          </a:bodyPr>
          <a:lstStyle/>
          <a:p>
            <a:pPr algn="ctr"/>
            <a:r>
              <a:rPr lang="en-US" sz="1300" dirty="0">
                <a:solidFill>
                  <a:srgbClr val="FFFFFF"/>
                </a:solidFill>
                <a:latin typeface="Calibri" panose="020F0502020204030204" pitchFamily="34" charset="0"/>
              </a:rPr>
              <a:t>Cosine Similarity Search</a:t>
            </a:r>
          </a:p>
        </p:txBody>
      </p:sp>
      <p:cxnSp>
        <p:nvCxnSpPr>
          <p:cNvPr id="25" name="arrC1"/>
          <p:cNvCxnSpPr/>
          <p:nvPr/>
        </p:nvCxnSpPr>
        <p:spPr>
          <a:xfrm flipH="0" flipV="0">
            <a:off x="2396000" y="4450000"/>
            <a:ext cx="3700000" cy="180000"/>
          </a:xfrm>
          <a:prstGeom prst="line">
            <a:avLst/>
          </a:prstGeom>
          <a:ln w="19050">
            <a:solidFill>
              <a:srgbClr val="C00000"/>
            </a:solidFill>
            <a:tailEnd type="triangle" w="med" len="med"/>
          </a:ln>
        </p:spPr>
      </p:cxnSp>
      <p:cxnSp>
        <p:nvCxnSpPr>
          <p:cNvPr id="26" name="arrC2"/>
          <p:cNvCxnSpPr/>
          <p:nvPr/>
        </p:nvCxnSpPr>
        <p:spPr>
          <a:xfrm flipH="0" flipV="0">
            <a:off x="6096000" y="4450000"/>
            <a:ext cx="1" cy="180000"/>
          </a:xfrm>
          <a:prstGeom prst="line">
            <a:avLst/>
          </a:prstGeom>
          <a:ln w="19050">
            <a:solidFill>
              <a:srgbClr val="C00000"/>
            </a:solidFill>
            <a:tailEnd type="triangle" w="med" len="med"/>
          </a:ln>
        </p:spPr>
      </p:cxnSp>
      <p:cxnSp>
        <p:nvCxnSpPr>
          <p:cNvPr id="27" name="arrC3"/>
          <p:cNvCxnSpPr/>
          <p:nvPr/>
        </p:nvCxnSpPr>
        <p:spPr>
          <a:xfrm flipH="1" flipV="0">
            <a:off x="6096000" y="4450000"/>
            <a:ext cx="3700000" cy="180000"/>
          </a:xfrm>
          <a:prstGeom prst="line">
            <a:avLst/>
          </a:prstGeom>
          <a:ln w="19050">
            <a:solidFill>
              <a:srgbClr val="C00000"/>
            </a:solidFill>
            <a:tailEnd type="triangle" w="med" len="med"/>
          </a:ln>
        </p:spPr>
      </p:cxnSp>
      <p:sp>
        <p:nvSpPr>
          <p:cNvPr id="28" name="ProcessRank"/>
          <p:cNvSpPr/>
          <p:nvPr/>
        </p:nvSpPr>
        <p:spPr>
          <a:xfrm>
            <a:off x="4096000" y="4630000"/>
            <a:ext cx="4000000" cy="450000"/>
          </a:xfrm>
          <a:prstGeom prst="roundRect">
            <a:avLst>
              <a:gd name="adj" fmla="val 12000"/>
            </a:avLst>
          </a:prstGeom>
          <a:solidFill>
            <a:srgbClr val="C00000"/>
          </a:solidFill>
          <a:ln w="12700">
            <a:solidFill>
              <a:srgbClr val="7A0000"/>
            </a:solidFill>
          </a:ln>
        </p:spPr>
        <p:txBody>
          <a:bodyPr rtlCol="0" anchor="ctr" wrap="square">
            <a:normAutofit/>
          </a:bodyPr>
          <a:lstStyle/>
          <a:p>
            <a:pPr algn="ctr"/>
            <a:r>
              <a:rPr lang="en-US" sz="1300" dirty="0">
                <a:solidFill>
                  <a:srgbClr val="FFFFFF"/>
                </a:solidFill>
                <a:latin typeface="Calibri" panose="020F0502020204030204" pitchFamily="34" charset="0"/>
              </a:rPr>
              <a:t>Process / Rank matching records</a:t>
            </a:r>
          </a:p>
        </p:txBody>
      </p:sp>
      <p:cxnSp>
        <p:nvCxnSpPr>
          <p:cNvPr id="29" name="arr5"/>
          <p:cNvCxnSpPr/>
          <p:nvPr/>
        </p:nvCxnSpPr>
        <p:spPr>
          <a:xfrm flipH="0" flipV="0">
            <a:off x="6096000" y="5080000"/>
            <a:ext cx="1" cy="140000"/>
          </a:xfrm>
          <a:prstGeom prst="line">
            <a:avLst/>
          </a:prstGeom>
          <a:ln w="19050">
            <a:solidFill>
              <a:srgbClr val="C00000"/>
            </a:solidFill>
            <a:tailEnd type="triangle" w="med" len="med"/>
          </a:ln>
        </p:spPr>
      </p:cxnSp>
      <p:sp>
        <p:nvSpPr>
          <p:cNvPr id="30" name="DisplayResults"/>
          <p:cNvSpPr/>
          <p:nvPr/>
        </p:nvSpPr>
        <p:spPr>
          <a:xfrm>
            <a:off x="4196000" y="5220000"/>
            <a:ext cx="3800000" cy="450000"/>
          </a:xfrm>
          <a:prstGeom prst="roundRect">
            <a:avLst>
              <a:gd name="adj" fmla="val 12000"/>
            </a:avLst>
          </a:prstGeom>
          <a:solidFill>
            <a:srgbClr val="C00000"/>
          </a:solidFill>
          <a:ln w="12700">
            <a:solidFill>
              <a:srgbClr val="7A0000"/>
            </a:solidFill>
          </a:ln>
        </p:spPr>
        <p:txBody>
          <a:bodyPr rtlCol="0" anchor="ctr" wrap="square">
            <a:normAutofit/>
          </a:bodyPr>
          <a:lstStyle/>
          <a:p>
            <a:pPr algn="ctr"/>
            <a:r>
              <a:rPr lang="en-US" sz="1400" dirty="0">
                <a:solidFill>
                  <a:srgbClr val="FFFFFF"/>
                </a:solidFill>
                <a:latin typeface="Calibri" panose="020F0502020204030204" pitchFamily="34" charset="0"/>
              </a:rPr>
              <a:t>Display results</a:t>
            </a:r>
          </a:p>
        </p:txBody>
      </p:sp>
      <p:cxnSp>
        <p:nvCxnSpPr>
          <p:cNvPr id="31" name="arr6"/>
          <p:cNvCxnSpPr/>
          <p:nvPr/>
        </p:nvCxnSpPr>
        <p:spPr>
          <a:xfrm flipH="0" flipV="0">
            <a:off x="6096000" y="5670000"/>
            <a:ext cx="1" cy="140000"/>
          </a:xfrm>
          <a:prstGeom prst="line">
            <a:avLst/>
          </a:prstGeom>
          <a:ln w="19050">
            <a:solidFill>
              <a:srgbClr val="C00000"/>
            </a:solidFill>
            <a:tailEnd type="triangle" w="med" len="med"/>
          </a:ln>
        </p:spPr>
      </p:cxnSp>
      <p:sp>
        <p:nvSpPr>
          <p:cNvPr id="32" name="End"/>
          <p:cNvSpPr/>
          <p:nvPr/>
        </p:nvSpPr>
        <p:spPr>
          <a:xfrm>
            <a:off x="4996000" y="5810000"/>
            <a:ext cx="2200000" cy="420000"/>
          </a:xfrm>
          <a:prstGeom prst="ellipse">
            <a:avLst/>
          </a:prstGeom>
          <a:solidFill>
            <a:srgbClr val="404040"/>
          </a:solidFill>
          <a:ln w="12700">
            <a:solidFill>
              <a:srgbClr val="222222"/>
            </a:solidFill>
          </a:ln>
        </p:spPr>
        <p:txBody>
          <a:bodyPr rtlCol="0" anchor="ctr" wrap="square">
            <a:normAutofit/>
          </a:bodyPr>
          <a:lstStyle/>
          <a:p>
            <a:pPr algn="ctr"/>
            <a:r>
              <a:rPr lang="en-US" sz="1400" b="1" dirty="0">
                <a:solidFill>
                  <a:srgbClr val="FFFFFF"/>
                </a:solidFill>
                <a:latin typeface="Calibri" panose="020F0502020204030204" pitchFamily="34" charset="0"/>
              </a:rPr>
              <a:t>End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kern="0" dirty="0">
                <a:solidFill>
                  <a:schemeClr val="bg1"/>
                </a:solidFill>
                <a:effectLst/>
                <a:ea typeface="Times New Roman" panose="02020603050405020304" pitchFamily="18" charset="0"/>
              </a:rPr>
              <a:t>Results</a:t>
            </a:r>
            <a:endParaRPr lang="en-US" sz="3200" b="1" dirty="0">
              <a:solidFill>
                <a:schemeClr val="bg1"/>
              </a:solidFill>
            </a:endParaRPr>
          </a:p>
        </p:txBody>
      </p:sp>
      <p:sp>
        <p:nvSpPr>
          <p:cNvPr id="10" name="TextBox Body"/>
          <p:cNvSpPr txBox="1"/>
          <p:nvPr/>
        </p:nvSpPr>
        <p:spPr>
          <a:xfrm>
            <a:off x="838200" y="990600"/>
            <a:ext cx="10515600" cy="3200000"/>
          </a:xfrm>
          <a:prstGeom prst="rect">
            <a:avLst/>
          </a:prstGeom>
          <a:noFill/>
        </p:spPr>
        <p:txBody>
          <a:bodyPr wrap="square" anchor="t">
            <a:normAutofit/>
          </a:bodyPr>
          <a:lstStyle/>
          <a:p>
            <a:pPr>
              <a:spcAft>
                <a:spcPts val="600"/>
              </a:spcAft>
            </a:pPr>
            <a:r>
              <a:rPr lang="en-US" sz="1900" b="1" dirty="0">
                <a:solidFill>
                  <a:srgbClr val="C00000"/>
                </a:solidFill>
                <a:latin typeface="Calibri" panose="020F0502020204030204" pitchFamily="34" charset="0"/>
              </a:rPr>
              <a:t>Partial Implementation / Review-2 Results</a:t>
            </a:r>
          </a:p>
          <a:p>
            <a:pPr marL="342900" indent="-342900">
              <a:lnSpc>
                <a:spcPct val="110000"/>
              </a:lnSpc>
              <a:spcAft>
                <a:spcPts val="300"/>
              </a:spcAft>
              <a:buFont typeface="Arial" panose="020B0604020202020204" pitchFamily="34" charset="0"/>
              <a:buChar char="•"/>
            </a:pPr>
            <a:r>
              <a:rPr lang="en-US" sz="1700" dirty="0">
                <a:latin typeface="Calibri" panose="020F0502020204030204" pitchFamily="34" charset="0"/>
              </a:rPr>
              <a:t>GitHub repository created and project structure established.</a:t>
            </a:r>
          </a:p>
          <a:p>
            <a:pPr marL="342900" indent="-342900">
              <a:lnSpc>
                <a:spcPct val="110000"/>
              </a:lnSpc>
              <a:spcAft>
                <a:spcPts val="300"/>
              </a:spcAft>
              <a:buFont typeface="Arial" panose="020B0604020202020204" pitchFamily="34" charset="0"/>
              <a:buChar char="•"/>
            </a:pPr>
            <a:r>
              <a:rPr lang="en-US" sz="1700" dirty="0">
                <a:latin typeface="Calibri" panose="020F0502020204030204" pitchFamily="34" charset="0"/>
              </a:rPr>
              <a:t>Medicine corpus created using medicines.txt.</a:t>
            </a:r>
          </a:p>
          <a:p>
            <a:pPr marL="342900" indent="-342900">
              <a:lnSpc>
                <a:spcPct val="110000"/>
              </a:lnSpc>
              <a:spcAft>
                <a:spcPts val="300"/>
              </a:spcAft>
              <a:buFont typeface="Arial" panose="020B0604020202020204" pitchFamily="34" charset="0"/>
              <a:buChar char="•"/>
            </a:pPr>
            <a:r>
              <a:rPr lang="en-US" sz="1700" dirty="0">
                <a:latin typeface="Calibri" panose="020F0502020204030204" pitchFamily="34" charset="0"/>
              </a:rPr>
              <a:t>Java file handling implemented for reading medicine records.</a:t>
            </a:r>
          </a:p>
          <a:p>
            <a:pPr marL="342900" indent="-342900">
              <a:lnSpc>
                <a:spcPct val="110000"/>
              </a:lnSpc>
              <a:spcAft>
                <a:spcPts val="300"/>
              </a:spcAft>
              <a:buFont typeface="Arial" panose="020B0604020202020204" pitchFamily="34" charset="0"/>
              <a:buChar char="•"/>
            </a:pPr>
            <a:r>
              <a:rPr lang="en-US" sz="1700" dirty="0">
                <a:latin typeface="Calibri" panose="020F0502020204030204" pitchFamily="34" charset="0"/>
              </a:rPr>
              <a:t>KMP pattern matching implemented for exact search.</a:t>
            </a:r>
          </a:p>
          <a:p>
            <a:pPr marL="342900" indent="-342900">
              <a:lnSpc>
                <a:spcPct val="110000"/>
              </a:lnSpc>
              <a:spcAft>
                <a:spcPts val="300"/>
              </a:spcAft>
              <a:buFont typeface="Arial" panose="020B0604020202020204" pitchFamily="34" charset="0"/>
              <a:buChar char="•"/>
            </a:pPr>
            <a:r>
              <a:rPr lang="en-US" sz="1700" dirty="0">
                <a:latin typeface="Calibri" panose="020F0502020204030204" pitchFamily="34" charset="0"/>
              </a:rPr>
              <a:t>Levenshtein-distance fuzzy search implemented for spelling variations.</a:t>
            </a:r>
          </a:p>
          <a:p>
            <a:pPr marL="342900" indent="-342900">
              <a:lnSpc>
                <a:spcPct val="110000"/>
              </a:lnSpc>
              <a:spcAft>
                <a:spcPts val="300"/>
              </a:spcAft>
              <a:buFont typeface="Arial" panose="020B0604020202020204" pitchFamily="34" charset="0"/>
              <a:buChar char="•"/>
            </a:pPr>
            <a:r>
              <a:rPr lang="en-US" sz="1700" dirty="0">
                <a:latin typeface="Calibri" panose="020F0502020204030204" pitchFamily="34" charset="0"/>
              </a:rPr>
              <a:t>Cosine-similarity search implemented for ranking related medicine records.</a:t>
            </a:r>
          </a:p>
          <a:p>
            <a:pPr marL="342900" indent="-342900">
              <a:lnSpc>
                <a:spcPct val="110000"/>
              </a:lnSpc>
              <a:buFont typeface="Arial" panose="020B0604020202020204" pitchFamily="34" charset="0"/>
              <a:buChar char="•"/>
            </a:pPr>
            <a:r>
              <a:rPr lang="en-US" sz="1700" dirty="0">
                <a:latin typeface="Calibri" panose="020F0502020204030204" pitchFamily="34" charset="0"/>
              </a:rPr>
              <a:t>Console-based menu provides access to the three search techniques.</a:t>
            </a:r>
          </a:p>
        </p:txBody>
      </p:sp>
      <p:sp>
        <p:nvSpPr>
          <p:cNvPr id="11" name="MapBox1"/>
          <p:cNvSpPr/>
          <p:nvPr/>
        </p:nvSpPr>
        <p:spPr>
          <a:xfrm>
            <a:off x="838200" y="4470000"/>
            <a:ext cx="3400000" cy="1750000"/>
          </a:xfrm>
          <a:prstGeom prst="roundRect">
            <a:avLst>
              <a:gd name="adj" fmla="val 8000"/>
            </a:avLst>
          </a:prstGeom>
          <a:solidFill>
            <a:srgbClr val="F2E5E5"/>
          </a:solidFill>
          <a:ln w="12700">
            <a:solidFill>
              <a:srgbClr val="C00000"/>
            </a:solidFill>
          </a:ln>
        </p:spPr>
        <p:txBody>
          <a:bodyPr rtlCol="0" anchor="ctr" wrap="square">
            <a:normAutofit/>
          </a:bodyPr>
          <a:lstStyle/>
          <a:p>
            <a:pPr algn="ctr"/>
            <a:r>
              <a:rPr lang="en-US" sz="1500" b="1" dirty="0">
                <a:solidFill>
                  <a:srgbClr val="C00000"/>
                </a:solidFill>
                <a:latin typeface="Calibri" panose="020F0502020204030204" pitchFamily="34" charset="0"/>
              </a:rPr>
              <a:t>Pattern Matching</a:t>
            </a:r>
          </a:p>
          <a:p>
            <a:pPr algn="ctr"/>
            <a:r>
              <a:rPr lang="en-US" sz="1500" dirty="0">
                <a:latin typeface="Calibri" panose="020F0502020204030204" pitchFamily="34" charset="0"/>
              </a:rPr>
              <a:t>→ KMP</a:t>
            </a:r>
          </a:p>
        </p:txBody>
      </p:sp>
      <p:sp>
        <p:nvSpPr>
          <p:cNvPr id="12" name="MapBox2"/>
          <p:cNvSpPr/>
          <p:nvPr/>
        </p:nvSpPr>
        <p:spPr>
          <a:xfrm>
            <a:off x="4396000" y="4470000"/>
            <a:ext cx="3400000" cy="1750000"/>
          </a:xfrm>
          <a:prstGeom prst="roundRect">
            <a:avLst>
              <a:gd name="adj" fmla="val 8000"/>
            </a:avLst>
          </a:prstGeom>
          <a:solidFill>
            <a:srgbClr val="F2E5E5"/>
          </a:solidFill>
          <a:ln w="12700">
            <a:solidFill>
              <a:srgbClr val="C00000"/>
            </a:solidFill>
          </a:ln>
        </p:spPr>
        <p:txBody>
          <a:bodyPr rtlCol="0" anchor="ctr" wrap="square">
            <a:normAutofit/>
          </a:bodyPr>
          <a:lstStyle/>
          <a:p>
            <a:pPr algn="ctr"/>
            <a:r>
              <a:rPr lang="en-US" sz="1500" b="1" dirty="0">
                <a:solidFill>
                  <a:srgbClr val="C00000"/>
                </a:solidFill>
                <a:latin typeface="Calibri" panose="020F0502020204030204" pitchFamily="34" charset="0"/>
              </a:rPr>
              <a:t>Fuzzy Search</a:t>
            </a:r>
          </a:p>
          <a:p>
            <a:pPr algn="ctr"/>
            <a:r>
              <a:rPr lang="en-US" sz="1500" dirty="0">
                <a:latin typeface="Calibri" panose="020F0502020204030204" pitchFamily="34" charset="0"/>
              </a:rPr>
              <a:t>→ Levenshtein Distance</a:t>
            </a:r>
          </a:p>
        </p:txBody>
      </p:sp>
      <p:sp>
        <p:nvSpPr>
          <p:cNvPr id="13" name="MapBox3"/>
          <p:cNvSpPr/>
          <p:nvPr/>
        </p:nvSpPr>
        <p:spPr>
          <a:xfrm>
            <a:off x="7954000" y="4470000"/>
            <a:ext cx="3400000" cy="1750000"/>
          </a:xfrm>
          <a:prstGeom prst="roundRect">
            <a:avLst>
              <a:gd name="adj" fmla="val 8000"/>
            </a:avLst>
          </a:prstGeom>
          <a:solidFill>
            <a:srgbClr val="F2E5E5"/>
          </a:solidFill>
          <a:ln w="12700">
            <a:solidFill>
              <a:srgbClr val="C00000"/>
            </a:solidFill>
          </a:ln>
        </p:spPr>
        <p:txBody>
          <a:bodyPr rtlCol="0" anchor="ctr" wrap="square">
            <a:normAutofit/>
          </a:bodyPr>
          <a:lstStyle/>
          <a:p>
            <a:pPr algn="ctr"/>
            <a:r>
              <a:rPr lang="en-US" sz="1500" b="1" dirty="0">
                <a:solidFill>
                  <a:srgbClr val="C00000"/>
                </a:solidFill>
                <a:latin typeface="Calibri" panose="020F0502020204030204" pitchFamily="34" charset="0"/>
              </a:rPr>
              <a:t>Similarity Search</a:t>
            </a:r>
          </a:p>
          <a:p>
            <a:pPr algn="ctr"/>
            <a:r>
              <a:rPr lang="en-US" sz="1500" dirty="0">
                <a:latin typeface="Calibri" panose="020F0502020204030204" pitchFamily="34" charset="0"/>
              </a:rPr>
              <a:t>→ Cosine Similarity</a:t>
            </a:r>
          </a:p>
        </p:txBody>
      </p:sp>
    </p:spTree>
    <p:extLst>
      <p:ext uri="{BB962C8B-B14F-4D97-AF65-F5344CB8AC3E}">
        <p14:creationId xmlns:p14="http://schemas.microsoft.com/office/powerpoint/2010/main" val="1060922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654372" y="262038"/>
            <a:ext cx="6419945" cy="60395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3547840" y="302403"/>
            <a:ext cx="6871855" cy="523220"/>
          </a:xfrm>
          <a:prstGeom prst="rect">
            <a:avLst/>
          </a:prstGeom>
          <a:noFill/>
        </p:spPr>
        <p:txBody>
          <a:bodyPr wrap="square" rtlCol="0">
            <a:spAutoFit/>
          </a:bodyPr>
          <a:lstStyle/>
          <a:p>
            <a:pPr algn="ctr"/>
            <a:r>
              <a:rPr lang="en-US" sz="2800" b="1" kern="0" dirty="0">
                <a:solidFill>
                  <a:schemeClr val="bg1"/>
                </a:solidFill>
                <a:effectLst/>
                <a:ea typeface="Times New Roman" panose="02020603050405020304" pitchFamily="18" charset="0"/>
              </a:rPr>
              <a:t>Hardware and Software requirements</a:t>
            </a:r>
            <a:endParaRPr lang="en-US" sz="2800" b="1" dirty="0">
              <a:solidFill>
                <a:schemeClr val="bg1"/>
              </a:solidFill>
            </a:endParaRPr>
          </a:p>
        </p:txBody>
      </p:sp>
      <p:sp>
        <p:nvSpPr>
          <p:cNvPr id="4" name="HW Header"/>
          <p:cNvSpPr txBox="1"/>
          <p:nvPr/>
        </p:nvSpPr>
        <p:spPr>
          <a:xfrm>
            <a:off x="838200" y="1067435"/>
            <a:ext cx="4800000" cy="500000"/>
          </a:xfrm>
          <a:prstGeom prst="rect">
            <a:avLst/>
          </a:prstGeom>
          <a:noFill/>
        </p:spPr>
        <p:txBody>
          <a:bodyPr wrap="square" anchor="t"/>
          <a:lstStyle/>
          <a:p>
            <a:r>
              <a:rPr lang="en-US" sz="2000" b="1" dirty="0">
                <a:solidFill>
                  <a:srgbClr val="C00000"/>
                </a:solidFill>
                <a:latin typeface="Calibri" panose="020F0502020204030204" pitchFamily="34" charset="0"/>
              </a:rPr>
              <a:t>Hardware Requirements</a:t>
            </a:r>
          </a:p>
        </p:txBody>
      </p:sp>
      <p:sp>
        <p:nvSpPr>
          <p:cNvPr id="5" name="HW List"/>
          <p:cNvSpPr txBox="1"/>
          <p:nvPr/>
        </p:nvSpPr>
        <p:spPr>
          <a:xfrm>
            <a:off x="838200" y="1650000"/>
            <a:ext cx="4800000" cy="2200000"/>
          </a:xfrm>
          <a:prstGeom prst="rect">
            <a:avLst/>
          </a:prstGeom>
          <a:noFill/>
        </p:spPr>
        <p:txBody>
          <a:bodyPr wrap="square" anchor="t">
            <a:normAutofit/>
          </a:bodyPr>
          <a:lstStyle/>
          <a:p>
            <a:pPr marL="342900" indent="-342900">
              <a:lnSpc>
                <a:spcPct val="130000"/>
              </a:lnSpc>
              <a:buFont typeface="Arial" panose="020B0604020202020204" pitchFamily="34" charset="0"/>
              <a:buChar char="•"/>
            </a:pPr>
            <a:r>
              <a:rPr lang="en-US" sz="1800" dirty="0">
                <a:latin typeface="Calibri" panose="020F0502020204030204" pitchFamily="34" charset="0"/>
              </a:rPr>
              <a:t>Computer / Laptop</a:t>
            </a:r>
          </a:p>
          <a:p>
            <a:pPr marL="342900" indent="-342900">
              <a:lnSpc>
                <a:spcPct val="130000"/>
              </a:lnSpc>
              <a:buFont typeface="Arial" panose="020B0604020202020204" pitchFamily="34" charset="0"/>
              <a:buChar char="•"/>
            </a:pPr>
            <a:r>
              <a:rPr lang="en-US" sz="1800" dirty="0">
                <a:latin typeface="Calibri" panose="020F0502020204030204" pitchFamily="34" charset="0"/>
              </a:rPr>
              <a:t>Minimum 4 GB RAM</a:t>
            </a:r>
          </a:p>
          <a:p>
            <a:pPr marL="342900" indent="-342900">
              <a:lnSpc>
                <a:spcPct val="130000"/>
              </a:lnSpc>
              <a:buFont typeface="Arial" panose="020B0604020202020204" pitchFamily="34" charset="0"/>
              <a:buChar char="•"/>
            </a:pPr>
            <a:r>
              <a:rPr lang="en-US" sz="1800" dirty="0">
                <a:latin typeface="Calibri" panose="020F0502020204030204" pitchFamily="34" charset="0"/>
              </a:rPr>
              <a:t>Minimum 1 GB available storage</a:t>
            </a:r>
          </a:p>
        </p:txBody>
      </p:sp>
      <p:sp>
        <p:nvSpPr>
          <p:cNvPr id="6" name="SW Header"/>
          <p:cNvSpPr txBox="1"/>
          <p:nvPr/>
        </p:nvSpPr>
        <p:spPr>
          <a:xfrm>
            <a:off x="6553800" y="1067435"/>
            <a:ext cx="4800000" cy="500000"/>
          </a:xfrm>
          <a:prstGeom prst="rect">
            <a:avLst/>
          </a:prstGeom>
          <a:noFill/>
        </p:spPr>
        <p:txBody>
          <a:bodyPr wrap="square" anchor="t"/>
          <a:lstStyle/>
          <a:p>
            <a:r>
              <a:rPr lang="en-US" sz="2000" b="1" dirty="0">
                <a:solidFill>
                  <a:srgbClr val="C00000"/>
                </a:solidFill>
                <a:latin typeface="Calibri" panose="020F0502020204030204" pitchFamily="34" charset="0"/>
              </a:rPr>
              <a:t>Software Requirements</a:t>
            </a:r>
          </a:p>
        </p:txBody>
      </p:sp>
      <p:sp>
        <p:nvSpPr>
          <p:cNvPr id="7" name="SW List"/>
          <p:cNvSpPr txBox="1"/>
          <p:nvPr/>
        </p:nvSpPr>
        <p:spPr>
          <a:xfrm>
            <a:off x="6553800" y="1650000"/>
            <a:ext cx="4800000" cy="3600000"/>
          </a:xfrm>
          <a:prstGeom prst="rect">
            <a:avLst/>
          </a:prstGeom>
          <a:noFill/>
        </p:spPr>
        <p:txBody>
          <a:bodyPr wrap="square" anchor="t">
            <a:normAutofit/>
          </a:bodyPr>
          <a:lstStyle/>
          <a:p>
            <a:pPr marL="342900" indent="-342900">
              <a:lnSpc>
                <a:spcPct val="130000"/>
              </a:lnSpc>
              <a:buFont typeface="Arial" panose="020B0604020202020204" pitchFamily="34" charset="0"/>
              <a:buChar char="•"/>
            </a:pPr>
            <a:r>
              <a:rPr lang="en-US" sz="1800" dirty="0">
                <a:latin typeface="Calibri" panose="020F0502020204030204" pitchFamily="34" charset="0"/>
              </a:rPr>
              <a:t>Java JDK</a:t>
            </a:r>
          </a:p>
          <a:p>
            <a:pPr marL="342900" indent="-342900">
              <a:lnSpc>
                <a:spcPct val="130000"/>
              </a:lnSpc>
              <a:buFont typeface="Arial" panose="020B0604020202020204" pitchFamily="34" charset="0"/>
              <a:buChar char="•"/>
            </a:pPr>
            <a:r>
              <a:rPr lang="en-US" sz="1800" dirty="0">
                <a:latin typeface="Calibri" panose="020F0502020204030204" pitchFamily="34" charset="0"/>
              </a:rPr>
              <a:t>VS Code / IntelliJ IDEA / Eclipse</a:t>
            </a:r>
          </a:p>
          <a:p>
            <a:pPr marL="342900" indent="-342900">
              <a:lnSpc>
                <a:spcPct val="130000"/>
              </a:lnSpc>
              <a:buFont typeface="Arial" panose="020B0604020202020204" pitchFamily="34" charset="0"/>
              <a:buChar char="•"/>
            </a:pPr>
            <a:r>
              <a:rPr lang="en-US" sz="1800" dirty="0">
                <a:latin typeface="Calibri" panose="020F0502020204030204" pitchFamily="34" charset="0"/>
              </a:rPr>
              <a:t>Git</a:t>
            </a:r>
          </a:p>
          <a:p>
            <a:pPr marL="342900" indent="-342900">
              <a:lnSpc>
                <a:spcPct val="130000"/>
              </a:lnSpc>
              <a:buFont typeface="Arial" panose="020B0604020202020204" pitchFamily="34" charset="0"/>
              <a:buChar char="•"/>
            </a:pPr>
            <a:r>
              <a:rPr lang="en-US" sz="1800" dirty="0">
                <a:latin typeface="Calibri" panose="020F0502020204030204" pitchFamily="34" charset="0"/>
              </a:rPr>
              <a:t>GitHub</a:t>
            </a:r>
          </a:p>
          <a:p>
            <a:pPr marL="342900" indent="-342900">
              <a:lnSpc>
                <a:spcPct val="130000"/>
              </a:lnSpc>
              <a:buFont typeface="Arial" panose="020B0604020202020204" pitchFamily="34" charset="0"/>
              <a:buChar char="•"/>
            </a:pPr>
            <a:r>
              <a:rPr lang="en-US" sz="1800" dirty="0">
                <a:latin typeface="Calibri" panose="020F0502020204030204" pitchFamily="34" charset="0"/>
              </a:rPr>
              <a:t>TXT corpus file</a:t>
            </a:r>
          </a:p>
          <a:p>
            <a:pPr marL="342900" indent="-342900">
              <a:lnSpc>
                <a:spcPct val="130000"/>
              </a:lnSpc>
              <a:buFont typeface="Arial" panose="020B0604020202020204" pitchFamily="34" charset="0"/>
              <a:buChar char="•"/>
            </a:pPr>
            <a:r>
              <a:rPr lang="en-US" sz="1800" dirty="0">
                <a:latin typeface="Calibri" panose="020F0502020204030204" pitchFamily="34" charset="0"/>
              </a:rPr>
              <a:t>Operating System: Windows / Linux / macOS</a:t>
            </a:r>
          </a:p>
        </p:txBody>
      </p:sp>
    </p:spTree>
    <p:extLst>
      <p:ext uri="{BB962C8B-B14F-4D97-AF65-F5344CB8AC3E}">
        <p14:creationId xmlns:p14="http://schemas.microsoft.com/office/powerpoint/2010/main" val="22927509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87903"/>
            <a:ext cx="6871855" cy="584775"/>
          </a:xfrm>
          <a:prstGeom prst="rect">
            <a:avLst/>
          </a:prstGeom>
          <a:noFill/>
        </p:spPr>
        <p:txBody>
          <a:bodyPr wrap="square" rtlCol="0">
            <a:spAutoFit/>
          </a:bodyPr>
          <a:lstStyle/>
          <a:p>
            <a:pPr algn="ctr"/>
            <a:r>
              <a:rPr lang="en-US" sz="3200" b="1" dirty="0">
                <a:solidFill>
                  <a:schemeClr val="bg1"/>
                </a:solidFill>
              </a:rPr>
              <a:t>Conclusion</a:t>
            </a:r>
          </a:p>
        </p:txBody>
      </p:sp>
      <p:sp>
        <p:nvSpPr>
          <p:cNvPr id="4" name="TextBox Body"/>
          <p:cNvSpPr txBox="1"/>
          <p:nvPr/>
        </p:nvSpPr>
        <p:spPr>
          <a:xfrm>
            <a:off x="838200" y="1143000"/>
            <a:ext cx="10515600" cy="4800600"/>
          </a:xfrm>
          <a:prstGeom prst="rect">
            <a:avLst/>
          </a:prstGeom>
          <a:noFill/>
        </p:spPr>
        <p:txBody>
          <a:bodyPr wrap="square" anchor="t">
            <a:normAutofit/>
          </a:bodyPr>
          <a:lstStyle/>
          <a:p>
            <a:pPr algn="just">
              <a:lnSpc>
                <a:spcPct val="130000"/>
              </a:lnSpc>
            </a:pPr>
            <a:r>
              <a:rPr lang="en-US" sz="2000" dirty="0">
                <a:latin typeface="Calibri" panose="020F0502020204030204" pitchFamily="34" charset="0"/>
              </a:rPr>
              <a:t>Pharma Search demonstrates the practical application of Data Structures and Algorithms for searching structured medicine information stored in a TXT corpus. KMP provides exact pattern matching, Levenshtein distance supports fuzzy searching, and cosine similarity enables similarity-based ranking. The current implementation establishes the core search functionality required for Review-2.</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2660072" y="154134"/>
            <a:ext cx="6871855" cy="584775"/>
          </a:xfrm>
          <a:prstGeom prst="rect">
            <a:avLst/>
          </a:prstGeom>
          <a:noFill/>
        </p:spPr>
        <p:txBody>
          <a:bodyPr wrap="square" rtlCol="0">
            <a:spAutoFit/>
          </a:bodyPr>
          <a:lstStyle/>
          <a:p>
            <a:pPr algn="ctr"/>
            <a:r>
              <a:rPr lang="en-US" sz="3200" b="1" dirty="0">
                <a:solidFill>
                  <a:schemeClr val="bg1"/>
                </a:solidFill>
              </a:rPr>
              <a:t> Future Scope</a:t>
            </a:r>
          </a:p>
        </p:txBody>
      </p:sp>
      <p:sp>
        <p:nvSpPr>
          <p:cNvPr id="4" name="TextBox Body"/>
          <p:cNvSpPr txBox="1"/>
          <p:nvPr/>
        </p:nvSpPr>
        <p:spPr>
          <a:xfrm>
            <a:off x="838200" y="1143000"/>
            <a:ext cx="10515600" cy="4800600"/>
          </a:xfrm>
          <a:prstGeom prst="rect">
            <a:avLst/>
          </a:prstGeom>
          <a:noFill/>
        </p:spPr>
        <p:txBody>
          <a:bodyPr wrap="square" anchor="t">
            <a:normAutofit/>
          </a:bodyPr>
          <a:lstStyle/>
          <a:p>
            <a:pPr marL="342900" indent="-342900">
              <a:lnSpc>
                <a:spcPct val="130000"/>
              </a:lnSpc>
              <a:spcAft>
                <a:spcPts val="500"/>
              </a:spcAft>
              <a:buFont typeface="Arial" panose="020B0604020202020204" pitchFamily="34" charset="0"/>
              <a:buChar char="•"/>
            </a:pPr>
            <a:r>
              <a:rPr lang="en-US" sz="2000" dirty="0">
                <a:latin typeface="Calibri" panose="020F0502020204030204" pitchFamily="34" charset="0"/>
              </a:rPr>
              <a:t>Expand the medicine corpus with more records.</a:t>
            </a:r>
          </a:p>
          <a:p>
            <a:pPr marL="342900" indent="-342900">
              <a:lnSpc>
                <a:spcPct val="130000"/>
              </a:lnSpc>
              <a:spcAft>
                <a:spcPts val="500"/>
              </a:spcAft>
              <a:buFont typeface="Arial" panose="020B0604020202020204" pitchFamily="34" charset="0"/>
              <a:buChar char="•"/>
            </a:pPr>
            <a:r>
              <a:rPr lang="en-US" sz="2000" dirty="0">
                <a:latin typeface="Calibri" panose="020F0502020204030204" pitchFamily="34" charset="0"/>
              </a:rPr>
              <a:t>Improve field-specific and ranked search.</a:t>
            </a:r>
          </a:p>
          <a:p>
            <a:pPr marL="342900" indent="-342900">
              <a:lnSpc>
                <a:spcPct val="130000"/>
              </a:lnSpc>
              <a:spcAft>
                <a:spcPts val="500"/>
              </a:spcAft>
              <a:buFont typeface="Arial" panose="020B0604020202020204" pitchFamily="34" charset="0"/>
              <a:buChar char="•"/>
            </a:pPr>
            <a:r>
              <a:rPr lang="en-US" sz="2000" dirty="0">
                <a:latin typeface="Calibri" panose="020F0502020204030204" pitchFamily="34" charset="0"/>
              </a:rPr>
              <a:t>Add indexing or hashing for faster lookup.</a:t>
            </a:r>
          </a:p>
          <a:p>
            <a:pPr marL="342900" indent="-342900">
              <a:lnSpc>
                <a:spcPct val="130000"/>
              </a:lnSpc>
              <a:spcAft>
                <a:spcPts val="500"/>
              </a:spcAft>
              <a:buFont typeface="Arial" panose="020B0604020202020204" pitchFamily="34" charset="0"/>
              <a:buChar char="•"/>
            </a:pPr>
            <a:r>
              <a:rPr lang="en-US" sz="2000" dirty="0">
                <a:latin typeface="Calibri" panose="020F0502020204030204" pitchFamily="34" charset="0"/>
              </a:rPr>
              <a:t>Improve search-result presentation.</a:t>
            </a:r>
          </a:p>
          <a:p>
            <a:pPr marL="342900" indent="-342900">
              <a:lnSpc>
                <a:spcPct val="130000"/>
              </a:lnSpc>
              <a:spcAft>
                <a:spcPts val="500"/>
              </a:spcAft>
              <a:buFont typeface="Arial" panose="020B0604020202020204" pitchFamily="34" charset="0"/>
              <a:buChar char="•"/>
            </a:pPr>
            <a:r>
              <a:rPr lang="en-US" sz="2000" dirty="0">
                <a:latin typeface="Calibri" panose="020F0502020204030204" pitchFamily="34" charset="0"/>
              </a:rPr>
              <a:t>Develop a graphical or web-based interface.</a:t>
            </a:r>
          </a:p>
          <a:p>
            <a:pPr marL="342900" indent="-342900">
              <a:lnSpc>
                <a:spcPct val="130000"/>
              </a:lnSpc>
              <a:buFont typeface="Arial" panose="020B0604020202020204" pitchFamily="34" charset="0"/>
              <a:buChar char="•"/>
            </a:pPr>
            <a:r>
              <a:rPr lang="en-US" sz="2000" dirty="0">
                <a:latin typeface="Calibri" panose="020F0502020204030204" pitchFamily="34" charset="0"/>
              </a:rPr>
              <a:t>Explore additional similarity and recommendation techniques.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7" y="2619376"/>
            <a:ext cx="4946253" cy="135782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smtClean="0"/>
              <a:t>Thank you</a:t>
            </a:r>
            <a:endParaRPr lang="en-US" sz="3200" b="1" dirty="0"/>
          </a:p>
        </p:txBody>
      </p:sp>
    </p:spTree>
    <p:extLst>
      <p:ext uri="{BB962C8B-B14F-4D97-AF65-F5344CB8AC3E}">
        <p14:creationId xmlns:p14="http://schemas.microsoft.com/office/powerpoint/2010/main" val="13135434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TotalTime>
  <Words>59</Words>
  <Application>Microsoft Office PowerPoint</Application>
  <PresentationFormat>Widescreen</PresentationFormat>
  <Paragraphs>25</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Calibri Light</vt:lpstr>
      <vt:lpstr>Gautami</vt:lpstr>
      <vt:lpstr>Times New Roman</vt:lpstr>
      <vt:lpstr>Office Theme</vt:lpstr>
      <vt:lpstr>       Data Structures and Algorithms -3 (25CS2103E)  Title of the project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Sirisha Devi</dc:creator>
  <cp:lastModifiedBy>ANITHA CHEKURI</cp:lastModifiedBy>
  <cp:revision>19</cp:revision>
  <dcterms:created xsi:type="dcterms:W3CDTF">2024-08-29T05:25:00Z</dcterms:created>
  <dcterms:modified xsi:type="dcterms:W3CDTF">2026-08-20T05:50:30Z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FB2A1F042FC047C6B4D7E0BF0C20B2E9_13</vt:lpwstr>
  </property>
  <property fmtid="{D5CDD505-2E9C-101B-9397-08002B2CF9AE}" pid="3" name="KSOProductBuildVer">
    <vt:lpwstr>1033-12.2.0.23131</vt:lpwstr>
  </property>
</Properties>
</file>