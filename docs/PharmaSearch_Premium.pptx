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858000" cy="6858000"/>
          </a:xfrm>
          <a:prstGeom prst="ellipse">
            <a:avLst/>
          </a:prstGeom>
          <a:solidFill>
            <a:srgbClr val="00D26A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00C2D1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6350">
            <a:solidFill>
              <a:srgbClr val="F8F8F8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6350">
            <a:solidFill>
              <a:srgbClr val="F8F8F8">
                <a:alpha val="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6350">
            <a:solidFill>
              <a:srgbClr val="F8F8F8">
                <a:alpha val="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F8F8F8">
                <a:alpha val="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F8F8F8">
                <a:alpha val="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6350">
            <a:solidFill>
              <a:srgbClr val="F8F8F8">
                <a:alpha val="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6350">
            <a:solidFill>
              <a:srgbClr val="F8F8F8">
                <a:alpha val="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F8F8F8">
                <a:alpha val="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6350">
            <a:solidFill>
              <a:srgbClr val="F8F8F8">
                <a:alpha val="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F8F8F8">
                <a:alpha val="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36508" y="-4572"/>
            <a:ext cx="3438144" cy="3438144"/>
          </a:xfrm>
          <a:prstGeom prst="ellipse">
            <a:avLst/>
          </a:prstGeom>
          <a:solidFill>
            <a:srgbClr val="00D26A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281160" y="640080"/>
            <a:ext cx="2148840" cy="214884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16" name="Image 0" descr="/home/claude/pharma-search/icons2/caps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0" y="1177290"/>
            <a:ext cx="1074420" cy="10744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7724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PROJECT PROPOSAL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" y="17830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50" kern="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Search</a:t>
            </a:r>
            <a:endParaRPr lang="en-US" sz="6000" dirty="0"/>
          </a:p>
        </p:txBody>
      </p:sp>
      <p:sp>
        <p:nvSpPr>
          <p:cNvPr id="19" name="Text 16"/>
          <p:cNvSpPr/>
          <p:nvPr/>
        </p:nvSpPr>
        <p:spPr>
          <a:xfrm>
            <a:off x="777240" y="285292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Medicine Search and Recommendation System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77240" y="3703320"/>
            <a:ext cx="6126480" cy="1965960"/>
          </a:xfrm>
          <a:prstGeom prst="roundRect">
            <a:avLst>
              <a:gd name="adj" fmla="val 7442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143000" y="39593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43000" y="4416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Monish Putti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4526280" y="44165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2520030395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43000" y="4818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Hemasai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4526280" y="4818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2520030599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43000" y="52212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Reddy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4526280" y="52212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2520030560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7724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Review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" y="649224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 ·   DATA STRUCTURES &amp; ALGORITHMS – III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D26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00400"/>
            <a:ext cx="5943600" cy="5943600"/>
          </a:xfrm>
          <a:prstGeom prst="ellipse">
            <a:avLst/>
          </a:prstGeom>
          <a:solidFill>
            <a:srgbClr val="00C2D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6309360" cy="3794760"/>
          </a:xfrm>
          <a:prstGeom prst="roundRect">
            <a:avLst>
              <a:gd name="adj" fmla="val 3855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075688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Search is an intelligent medicine search system built to help pharmacists, hospitals, and healthcare professionals quickly retrieve medicine information from large databases.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search by medicine name, manufacturer, dosage, or category — and the system suggests substitutes whenever the requested item is unavailable.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416552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conventional systems, Pharma Search integrates pattern matching and fuzzy search, making retrieval faster, smarter, and more user-friendly.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78040" y="1691640"/>
            <a:ext cx="4434840" cy="3794760"/>
          </a:xfrm>
          <a:prstGeom prst="roundRect">
            <a:avLst>
              <a:gd name="adj" fmla="val 3855"/>
            </a:avLst>
          </a:prstGeom>
          <a:solidFill>
            <a:srgbClr val="15151C">
              <a:alpha val="90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05572" y="1673352"/>
            <a:ext cx="2779776" cy="2779776"/>
          </a:xfrm>
          <a:prstGeom prst="ellipse">
            <a:avLst/>
          </a:prstGeom>
          <a:solidFill>
            <a:srgbClr val="00D26A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26780" y="2194560"/>
            <a:ext cx="1737360" cy="173736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13" name="Image 0" descr="/home/claude/pharma-search/icons2/laptop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2628900"/>
            <a:ext cx="868680" cy="8686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52360" y="411480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Healthcare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Interface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001000" y="4846320"/>
            <a:ext cx="2788920" cy="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2360" y="49834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100" kern="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 ·  Smarter  ·  Reliable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4360" y="5806440"/>
            <a:ext cx="11000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“Smarter Medicine Discovery Begins Here”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649224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 ·   DATA STRUCTURES &amp; ALGORITHMS – III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00C2D1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 and hospitals manage thousands of medicine records every day.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9788" y="1828800"/>
            <a:ext cx="2084832" cy="1874520"/>
          </a:xfrm>
          <a:prstGeom prst="roundRect">
            <a:avLst>
              <a:gd name="adj" fmla="val 6341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46988" y="1901952"/>
            <a:ext cx="1170432" cy="1170432"/>
          </a:xfrm>
          <a:prstGeom prst="ellipse">
            <a:avLst/>
          </a:prstGeom>
          <a:solidFill>
            <a:srgbClr val="00D26A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66444" y="2121408"/>
            <a:ext cx="731520" cy="73152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9" name="Image 0" descr="/home/claude/pharma-search/icons2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324" y="230428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9516" y="2980944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search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20924" y="1828800"/>
            <a:ext cx="2084832" cy="1874520"/>
          </a:xfrm>
          <a:prstGeom prst="roundRect">
            <a:avLst>
              <a:gd name="adj" fmla="val 6341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78124" y="1901952"/>
            <a:ext cx="1170432" cy="1170432"/>
          </a:xfrm>
          <a:prstGeom prst="ellipse">
            <a:avLst/>
          </a:prstGeom>
          <a:solidFill>
            <a:srgbClr val="00D26A">
              <a:alpha val="1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497580" y="2121408"/>
            <a:ext cx="731520" cy="73152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14" name="Image 1" descr="/home/claude/pharma-search/icons2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30428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30652" y="2980944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finding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medicines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52060" y="1828800"/>
            <a:ext cx="2084832" cy="1874520"/>
          </a:xfrm>
          <a:prstGeom prst="roundRect">
            <a:avLst>
              <a:gd name="adj" fmla="val 6341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509260" y="1901952"/>
            <a:ext cx="1170432" cy="1170432"/>
          </a:xfrm>
          <a:prstGeom prst="ellipse">
            <a:avLst/>
          </a:prstGeom>
          <a:solidFill>
            <a:srgbClr val="00D26A">
              <a:alpha val="12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5728716" y="2121408"/>
            <a:ext cx="731520" cy="73152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19" name="Image 2" descr="/home/claude/pharma-search/icons2/spell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230428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61788" y="2980944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mistakes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failed searches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283196" y="1828800"/>
            <a:ext cx="2084832" cy="1874520"/>
          </a:xfrm>
          <a:prstGeom prst="roundRect">
            <a:avLst>
              <a:gd name="adj" fmla="val 6341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40396" y="1901952"/>
            <a:ext cx="1170432" cy="1170432"/>
          </a:xfrm>
          <a:prstGeom prst="ellipse">
            <a:avLst/>
          </a:prstGeom>
          <a:solidFill>
            <a:srgbClr val="00D26A">
              <a:alpha val="12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959852" y="2121408"/>
            <a:ext cx="731520" cy="73152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24" name="Image 3" descr="/home/claude/pharma-search/icons2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32" y="230428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92924" y="2980944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large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databases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9514332" y="1828800"/>
            <a:ext cx="2084832" cy="1874520"/>
          </a:xfrm>
          <a:prstGeom prst="roundRect">
            <a:avLst>
              <a:gd name="adj" fmla="val 6341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971532" y="1901952"/>
            <a:ext cx="1170432" cy="1170432"/>
          </a:xfrm>
          <a:prstGeom prst="ellipse">
            <a:avLst/>
          </a:prstGeom>
          <a:solidFill>
            <a:srgbClr val="00D26A">
              <a:alpha val="12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10190988" y="2121408"/>
            <a:ext cx="731520" cy="73152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29" name="Image 4" descr="/home/claude/pharma-search/icons2/hourgla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3868" y="2304288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624060" y="2980944"/>
            <a:ext cx="18653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service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699455" y="3756355"/>
            <a:ext cx="790042" cy="790042"/>
          </a:xfrm>
          <a:prstGeom prst="ellipse">
            <a:avLst/>
          </a:prstGeom>
          <a:solidFill>
            <a:srgbClr val="00C2D1">
              <a:alpha val="15000"/>
            </a:srgbClr>
          </a:solidFill>
          <a:ln/>
        </p:spPr>
      </p:sp>
      <p:sp>
        <p:nvSpPr>
          <p:cNvPr id="32" name="Shape 25"/>
          <p:cNvSpPr/>
          <p:nvPr/>
        </p:nvSpPr>
        <p:spPr>
          <a:xfrm>
            <a:off x="5801868" y="3858768"/>
            <a:ext cx="585216" cy="585216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33" name="Image 5" descr="/home/claude/pharma-search/icons2/arrowDow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8172" y="4005072"/>
            <a:ext cx="292608" cy="292608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10323"/>
            </a:avLst>
          </a:prstGeom>
          <a:solidFill>
            <a:srgbClr val="15151C">
              <a:alpha val="9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5508" y="4622292"/>
            <a:ext cx="1243584" cy="1243584"/>
          </a:xfrm>
          <a:prstGeom prst="ellipse">
            <a:avLst/>
          </a:prstGeom>
          <a:solidFill>
            <a:srgbClr val="00C2D1">
              <a:alpha val="12000"/>
            </a:srgbClr>
          </a:solidFill>
          <a:ln/>
        </p:spPr>
      </p:sp>
      <p:sp>
        <p:nvSpPr>
          <p:cNvPr id="36" name="Shape 28"/>
          <p:cNvSpPr/>
          <p:nvPr/>
        </p:nvSpPr>
        <p:spPr>
          <a:xfrm>
            <a:off x="868680" y="4855464"/>
            <a:ext cx="777240" cy="77724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37" name="Image 6" descr="/home/claude/pharma-search/icons2/lightbul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" y="5049774"/>
            <a:ext cx="388620" cy="3886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965960" y="4782312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1965960" y="507492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intelligent medicine search system capable of fast, accurate, and smart medicine retrieval using advanced algorithmic techniques.</a:t>
            </a:r>
            <a:endParaRPr lang="en-US" sz="1450" dirty="0"/>
          </a:p>
        </p:txBody>
      </p:sp>
      <p:sp>
        <p:nvSpPr>
          <p:cNvPr id="40" name="Text 31"/>
          <p:cNvSpPr/>
          <p:nvPr/>
        </p:nvSpPr>
        <p:spPr>
          <a:xfrm>
            <a:off x="548640" y="649224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 ·   DATA STRUCTURES &amp; ALGORITHMS – III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00D26A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Functionalities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49240" cy="4846320"/>
          </a:xfrm>
          <a:prstGeom prst="roundRect">
            <a:avLst>
              <a:gd name="adj" fmla="val 3019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830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2167128"/>
            <a:ext cx="877824" cy="877824"/>
          </a:xfrm>
          <a:prstGeom prst="ellipse">
            <a:avLst/>
          </a:prstGeom>
          <a:solidFill>
            <a:srgbClr val="00D26A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9" name="Image 0" descr="/home/claude/pharma-search/icons2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68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331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medicine by name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808" y="2825496"/>
            <a:ext cx="877824" cy="877824"/>
          </a:xfrm>
          <a:prstGeom prst="ellipse">
            <a:avLst/>
          </a:prstGeom>
          <a:solidFill>
            <a:srgbClr val="00D26A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13" name="Image 1" descr="/home/claude/pharma-search/icons2/indus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1272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9900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manufacturer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49808" y="3483864"/>
            <a:ext cx="877824" cy="877824"/>
          </a:xfrm>
          <a:prstGeom prst="ellipse">
            <a:avLst/>
          </a:prstGeom>
          <a:solidFill>
            <a:srgbClr val="00D26A">
              <a:alpha val="1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3648456"/>
            <a:ext cx="548640" cy="54864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17" name="Image 2" descr="/home/claude/pharma-search/icons2/pil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7856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64845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dosage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49808" y="4142232"/>
            <a:ext cx="877824" cy="877824"/>
          </a:xfrm>
          <a:prstGeom prst="ellipse">
            <a:avLst/>
          </a:prstGeom>
          <a:solidFill>
            <a:srgbClr val="00D26A">
              <a:alpha val="1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306824"/>
            <a:ext cx="548640" cy="54864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21" name="Image 3" descr="/home/claude/pharma-search/icons2/list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4398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3068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medicine category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749808" y="4800600"/>
            <a:ext cx="877824" cy="877824"/>
          </a:xfrm>
          <a:prstGeom prst="ellipse">
            <a:avLst/>
          </a:prstGeom>
          <a:solidFill>
            <a:srgbClr val="00D26A">
              <a:alpha val="10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914400" y="4965192"/>
            <a:ext cx="548640" cy="54864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25" name="Image 4" descr="/home/claude/pharma-search/icons2/fileM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10235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49651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complete medicine details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49808" y="5458968"/>
            <a:ext cx="877824" cy="877824"/>
          </a:xfrm>
          <a:prstGeom prst="ellipse">
            <a:avLst/>
          </a:prstGeom>
          <a:solidFill>
            <a:srgbClr val="00D26A">
              <a:alpha val="10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914400" y="5623560"/>
            <a:ext cx="548640" cy="54864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29" name="Image 5" descr="/home/claude/pharma-search/icons2/syn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76072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600200" y="5623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substitute medicines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6291072" y="1508760"/>
            <a:ext cx="5349240" cy="4846320"/>
          </a:xfrm>
          <a:prstGeom prst="roundRect">
            <a:avLst>
              <a:gd name="adj" fmla="val 3019"/>
            </a:avLst>
          </a:prstGeom>
          <a:solidFill>
            <a:srgbClr val="15151C">
              <a:alpha val="9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6656832" y="17830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656832" y="207568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BASED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492240" y="2487168"/>
            <a:ext cx="877824" cy="877824"/>
          </a:xfrm>
          <a:prstGeom prst="ellipse">
            <a:avLst/>
          </a:prstGeom>
          <a:solidFill>
            <a:srgbClr val="00C2D1">
              <a:alpha val="10000"/>
            </a:srgbClr>
          </a:solidFill>
          <a:ln/>
        </p:spPr>
      </p:sp>
      <p:sp>
        <p:nvSpPr>
          <p:cNvPr id="35" name="Shape 27"/>
          <p:cNvSpPr/>
          <p:nvPr/>
        </p:nvSpPr>
        <p:spPr>
          <a:xfrm>
            <a:off x="6656832" y="2651760"/>
            <a:ext cx="548640" cy="54864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36" name="Image 6" descr="/home/claude/pharma-search/icons2/bullsey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278892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342632" y="26517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medicine search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6492240" y="3355848"/>
            <a:ext cx="877824" cy="877824"/>
          </a:xfrm>
          <a:prstGeom prst="ellipse">
            <a:avLst/>
          </a:prstGeom>
          <a:solidFill>
            <a:srgbClr val="00C2D1">
              <a:alpha val="10000"/>
            </a:srgbClr>
          </a:solidFill>
          <a:ln/>
        </p:spPr>
      </p:sp>
      <p:sp>
        <p:nvSpPr>
          <p:cNvPr id="39" name="Shape 30"/>
          <p:cNvSpPr/>
          <p:nvPr/>
        </p:nvSpPr>
        <p:spPr>
          <a:xfrm>
            <a:off x="6656832" y="3520440"/>
            <a:ext cx="548640" cy="54864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40" name="Image 7" descr="/home/claude/pharma-search/icons2/spell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365760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342632" y="35204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search for misspelled names</a:t>
            </a:r>
            <a:endParaRPr lang="en-US" sz="1400" dirty="0"/>
          </a:p>
        </p:txBody>
      </p:sp>
      <p:sp>
        <p:nvSpPr>
          <p:cNvPr id="42" name="Shape 32"/>
          <p:cNvSpPr/>
          <p:nvPr/>
        </p:nvSpPr>
        <p:spPr>
          <a:xfrm>
            <a:off x="6492240" y="4224528"/>
            <a:ext cx="877824" cy="877824"/>
          </a:xfrm>
          <a:prstGeom prst="ellipse">
            <a:avLst/>
          </a:prstGeom>
          <a:solidFill>
            <a:srgbClr val="00C2D1">
              <a:alpha val="10000"/>
            </a:srgbClr>
          </a:solidFill>
          <a:ln/>
        </p:spPr>
      </p:sp>
      <p:sp>
        <p:nvSpPr>
          <p:cNvPr id="43" name="Shape 33"/>
          <p:cNvSpPr/>
          <p:nvPr/>
        </p:nvSpPr>
        <p:spPr>
          <a:xfrm>
            <a:off x="6656832" y="4389120"/>
            <a:ext cx="548640" cy="54864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44" name="Image 8" descr="/home/claude/pharma-search/icons2/magi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3992" y="4526280"/>
            <a:ext cx="274320" cy="27432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342632" y="43891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Auto-suggestions while searching</a:t>
            </a:r>
            <a:endParaRPr lang="en-US" sz="1400" dirty="0"/>
          </a:p>
        </p:txBody>
      </p:sp>
      <p:sp>
        <p:nvSpPr>
          <p:cNvPr id="46" name="Shape 35"/>
          <p:cNvSpPr/>
          <p:nvPr/>
        </p:nvSpPr>
        <p:spPr>
          <a:xfrm>
            <a:off x="6492240" y="5093208"/>
            <a:ext cx="877824" cy="877824"/>
          </a:xfrm>
          <a:prstGeom prst="ellipse">
            <a:avLst/>
          </a:prstGeom>
          <a:solidFill>
            <a:srgbClr val="00C2D1">
              <a:alpha val="10000"/>
            </a:srgbClr>
          </a:solidFill>
          <a:ln/>
        </p:spPr>
      </p:sp>
      <p:sp>
        <p:nvSpPr>
          <p:cNvPr id="47" name="Shape 36"/>
          <p:cNvSpPr/>
          <p:nvPr/>
        </p:nvSpPr>
        <p:spPr>
          <a:xfrm>
            <a:off x="6656832" y="5257800"/>
            <a:ext cx="548640" cy="54864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48" name="Image 9" descr="/home/claude/pharma-search/icons2/bol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3992" y="5394960"/>
            <a:ext cx="274320" cy="274320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342632" y="52578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pattern matching on large databases</a:t>
            </a:r>
            <a:endParaRPr lang="en-US" sz="1400" dirty="0"/>
          </a:p>
        </p:txBody>
      </p:sp>
      <p:sp>
        <p:nvSpPr>
          <p:cNvPr id="50" name="Text 38"/>
          <p:cNvSpPr/>
          <p:nvPr/>
        </p:nvSpPr>
        <p:spPr>
          <a:xfrm>
            <a:off x="548640" y="649224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 ·   DATA STRUCTURES &amp; ALGORITHMS – III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00D26A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46120" cy="1600200"/>
          </a:xfrm>
          <a:prstGeom prst="roundRect">
            <a:avLst>
              <a:gd name="adj" fmla="val 7429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435608"/>
            <a:ext cx="1024128" cy="1024128"/>
          </a:xfrm>
          <a:prstGeom prst="ellipse">
            <a:avLst/>
          </a:prstGeom>
          <a:solidFill>
            <a:srgbClr val="00C2D1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627632"/>
            <a:ext cx="640080" cy="64008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8" name="Image 0" descr="/home/claude/pharma-search/icons2/ja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781251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6459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554480" y="1901952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959352" y="1371600"/>
            <a:ext cx="3246120" cy="1600200"/>
          </a:xfrm>
          <a:prstGeom prst="roundRect">
            <a:avLst>
              <a:gd name="adj" fmla="val 7429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23360" y="1435608"/>
            <a:ext cx="1024128" cy="1024128"/>
          </a:xfrm>
          <a:prstGeom prst="ellipse">
            <a:avLst/>
          </a:prstGeom>
          <a:solidFill>
            <a:srgbClr val="00C2D1">
              <a:alpha val="1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215384" y="1627632"/>
            <a:ext cx="640080" cy="64008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14" name="Image 1" descr="/home/claude/pharma-search/icons2/mysq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003" y="1781251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65192" y="164592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965192" y="1901952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136392"/>
            <a:ext cx="3246120" cy="1600200"/>
          </a:xfrm>
          <a:prstGeom prst="roundRect">
            <a:avLst>
              <a:gd name="adj" fmla="val 7429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" y="3200400"/>
            <a:ext cx="1024128" cy="1024128"/>
          </a:xfrm>
          <a:prstGeom prst="ellipse">
            <a:avLst/>
          </a:prstGeom>
          <a:solidFill>
            <a:srgbClr val="00C2D1">
              <a:alpha val="12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804672" y="3392424"/>
            <a:ext cx="640080" cy="64008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20" name="Image 2" descr="/home/claude/pharma-search/icons2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3546043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41071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554480" y="3666744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· Hash Tables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· Trees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959352" y="3136392"/>
            <a:ext cx="3246120" cy="1600200"/>
          </a:xfrm>
          <a:prstGeom prst="roundRect">
            <a:avLst>
              <a:gd name="adj" fmla="val 7429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023360" y="3200400"/>
            <a:ext cx="1024128" cy="1024128"/>
          </a:xfrm>
          <a:prstGeom prst="ellipse">
            <a:avLst/>
          </a:prstGeom>
          <a:solidFill>
            <a:srgbClr val="00C2D1">
              <a:alpha val="12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4215384" y="3392424"/>
            <a:ext cx="640080" cy="640080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26" name="Image 3" descr="/home/claude/pharma-search/icons2/projec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003" y="3546043"/>
            <a:ext cx="332842" cy="33284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965192" y="341071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965192" y="3666744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Rabin-Karp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 · Hashing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7059168" y="1371600"/>
            <a:ext cx="4553712" cy="4709160"/>
          </a:xfrm>
          <a:prstGeom prst="roundRect">
            <a:avLst>
              <a:gd name="adj" fmla="val 3213"/>
            </a:avLst>
          </a:prstGeom>
          <a:solidFill>
            <a:srgbClr val="15151C">
              <a:alpha val="9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333488" y="1627632"/>
            <a:ext cx="128016" cy="128016"/>
          </a:xfrm>
          <a:prstGeom prst="ellipse">
            <a:avLst/>
          </a:prstGeom>
          <a:solidFill>
            <a:srgbClr val="E5493B"/>
          </a:solidFill>
          <a:ln/>
        </p:spPr>
      </p:sp>
      <p:sp>
        <p:nvSpPr>
          <p:cNvPr id="31" name="Shape 25"/>
          <p:cNvSpPr/>
          <p:nvPr/>
        </p:nvSpPr>
        <p:spPr>
          <a:xfrm>
            <a:off x="7589520" y="1627632"/>
            <a:ext cx="128016" cy="128016"/>
          </a:xfrm>
          <a:prstGeom prst="ellipse">
            <a:avLst/>
          </a:prstGeom>
          <a:solidFill>
            <a:srgbClr val="E5A73B"/>
          </a:solidFill>
          <a:ln/>
        </p:spPr>
      </p:sp>
      <p:sp>
        <p:nvSpPr>
          <p:cNvPr id="32" name="Shape 26"/>
          <p:cNvSpPr/>
          <p:nvPr/>
        </p:nvSpPr>
        <p:spPr>
          <a:xfrm>
            <a:off x="7845552" y="1627632"/>
            <a:ext cx="128016" cy="128016"/>
          </a:xfrm>
          <a:prstGeom prst="ellipse">
            <a:avLst/>
          </a:prstGeom>
          <a:solidFill>
            <a:srgbClr val="3BE55A"/>
          </a:solidFill>
          <a:ln/>
        </p:spPr>
      </p:sp>
      <p:sp>
        <p:nvSpPr>
          <p:cNvPr id="33" name="Text 27"/>
          <p:cNvSpPr/>
          <p:nvPr/>
        </p:nvSpPr>
        <p:spPr>
          <a:xfrm>
            <a:off x="8247888" y="155448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SEARCH — LIVE DEMO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104888" y="1938528"/>
            <a:ext cx="4462272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379208" y="2240280"/>
            <a:ext cx="3913632" cy="566928"/>
          </a:xfrm>
          <a:prstGeom prst="roundRect">
            <a:avLst>
              <a:gd name="adj" fmla="val 16129"/>
            </a:avLst>
          </a:prstGeom>
          <a:solidFill>
            <a:srgbClr val="0F0F14">
              <a:alpha val="90000"/>
            </a:srgbClr>
          </a:solidFill>
          <a:ln w="12700">
            <a:solidFill>
              <a:srgbClr val="00D26A">
                <a:alpha val="45000"/>
              </a:srgbClr>
            </a:solidFill>
            <a:prstDash val="solid"/>
          </a:ln>
        </p:spPr>
      </p:sp>
      <p:pic>
        <p:nvPicPr>
          <p:cNvPr id="36" name="Image 4" descr="/home/claude/pharma-search/icons2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2386584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946136" y="2240280"/>
            <a:ext cx="3182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Paracetmol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8926373" y="2818181"/>
            <a:ext cx="819302" cy="819302"/>
          </a:xfrm>
          <a:prstGeom prst="ellipse">
            <a:avLst/>
          </a:prstGeom>
          <a:solidFill>
            <a:srgbClr val="00D26A">
              <a:alpha val="13000"/>
            </a:srgbClr>
          </a:solidFill>
          <a:ln/>
        </p:spPr>
      </p:sp>
      <p:sp>
        <p:nvSpPr>
          <p:cNvPr id="39" name="Shape 32"/>
          <p:cNvSpPr/>
          <p:nvPr/>
        </p:nvSpPr>
        <p:spPr>
          <a:xfrm>
            <a:off x="9079992" y="2971800"/>
            <a:ext cx="512064" cy="512064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40" name="Image 5" descr="/home/claude/pharma-search/icons2/arrowDow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008" y="3099816"/>
            <a:ext cx="256032" cy="256032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7379208" y="3675888"/>
            <a:ext cx="3913632" cy="1234440"/>
          </a:xfrm>
          <a:prstGeom prst="roundRect">
            <a:avLst>
              <a:gd name="adj" fmla="val 8889"/>
            </a:avLst>
          </a:prstGeom>
          <a:solidFill>
            <a:srgbClr val="00D26A">
              <a:alpha val="12000"/>
            </a:srgbClr>
          </a:solidFill>
          <a:ln w="12700">
            <a:solidFill>
              <a:srgbClr val="00D26A">
                <a:alpha val="60000"/>
              </a:srgbClr>
            </a:solidFill>
            <a:prstDash val="solid"/>
          </a:ln>
        </p:spPr>
      </p:sp>
      <p:pic>
        <p:nvPicPr>
          <p:cNvPr id="42" name="Image 6" descr="/home/claude/pharma-search/icons2/bra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0376" y="3877056"/>
            <a:ext cx="502920" cy="5029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247888" y="3858768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</a:t>
            </a:r>
            <a:endParaRPr lang="en-US" sz="1050" dirty="0"/>
          </a:p>
        </p:txBody>
      </p:sp>
      <p:sp>
        <p:nvSpPr>
          <p:cNvPr id="44" name="Text 35"/>
          <p:cNvSpPr/>
          <p:nvPr/>
        </p:nvSpPr>
        <p:spPr>
          <a:xfrm>
            <a:off x="8247888" y="4178808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mean: Paracetamol?</a:t>
            </a:r>
            <a:endParaRPr lang="en-US" sz="1550" dirty="0"/>
          </a:p>
        </p:txBody>
      </p:sp>
      <p:sp>
        <p:nvSpPr>
          <p:cNvPr id="45" name="Text 36"/>
          <p:cNvSpPr/>
          <p:nvPr/>
        </p:nvSpPr>
        <p:spPr>
          <a:xfrm>
            <a:off x="7379208" y="5230368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80" kern="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Search  ·  Edit Distance (DP)</a:t>
            </a:r>
            <a:endParaRPr lang="en-US" sz="1050" dirty="0"/>
          </a:p>
        </p:txBody>
      </p:sp>
      <p:sp>
        <p:nvSpPr>
          <p:cNvPr id="46" name="Text 37"/>
          <p:cNvSpPr/>
          <p:nvPr/>
        </p:nvSpPr>
        <p:spPr>
          <a:xfrm>
            <a:off x="548640" y="649224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 ·   DATA STRUCTURES &amp; ALGORITHMS – III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943600" cy="5943600"/>
          </a:xfrm>
          <a:prstGeom prst="ellipse">
            <a:avLst/>
          </a:prstGeom>
          <a:solidFill>
            <a:srgbClr val="00C2D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5029200"/>
            <a:ext cx="5486400" cy="5486400"/>
          </a:xfrm>
          <a:prstGeom prst="ellipse">
            <a:avLst/>
          </a:prstGeom>
          <a:solidFill>
            <a:srgbClr val="00D26A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587496" cy="868680"/>
          </a:xfrm>
          <a:prstGeom prst="roundRect">
            <a:avLst>
              <a:gd name="adj" fmla="val 12632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4477" y="1304849"/>
            <a:ext cx="819302" cy="819302"/>
          </a:xfrm>
          <a:prstGeom prst="ellipse">
            <a:avLst/>
          </a:prstGeom>
          <a:solidFill>
            <a:srgbClr val="00D26A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1458468"/>
            <a:ext cx="512064" cy="512064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9" name="Image 0" descr="/home/claude/pharma-search/icons2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58648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280160"/>
            <a:ext cx="2535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medicine search time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00728" y="1280160"/>
            <a:ext cx="3587496" cy="868680"/>
          </a:xfrm>
          <a:prstGeom prst="roundRect">
            <a:avLst>
              <a:gd name="adj" fmla="val 12632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6565" y="1304849"/>
            <a:ext cx="819302" cy="819302"/>
          </a:xfrm>
          <a:prstGeom prst="ellipse">
            <a:avLst/>
          </a:prstGeom>
          <a:solidFill>
            <a:srgbClr val="00D26A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520184" y="1458468"/>
            <a:ext cx="512064" cy="512064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14" name="Image 1" descr="/home/claude/pharma-search/icons2/work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58648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9408" y="1280160"/>
            <a:ext cx="2535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pharmacy workflow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52816" y="1280160"/>
            <a:ext cx="3587496" cy="868680"/>
          </a:xfrm>
          <a:prstGeom prst="roundRect">
            <a:avLst>
              <a:gd name="adj" fmla="val 12632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18653" y="1304849"/>
            <a:ext cx="819302" cy="819302"/>
          </a:xfrm>
          <a:prstGeom prst="ellipse">
            <a:avLst/>
          </a:prstGeom>
          <a:solidFill>
            <a:srgbClr val="00D26A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272272" y="1458468"/>
            <a:ext cx="512064" cy="512064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19" name="Image 2" descr="/home/claude/pharma-search/icons2/spell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288" y="158648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21496" y="1280160"/>
            <a:ext cx="2535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spelling-related errors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2331720"/>
            <a:ext cx="3587496" cy="868680"/>
          </a:xfrm>
          <a:prstGeom prst="roundRect">
            <a:avLst>
              <a:gd name="adj" fmla="val 12632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4477" y="2356409"/>
            <a:ext cx="819302" cy="819302"/>
          </a:xfrm>
          <a:prstGeom prst="ellipse">
            <a:avLst/>
          </a:prstGeom>
          <a:solidFill>
            <a:srgbClr val="00D26A">
              <a:alpha val="10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68096" y="2510028"/>
            <a:ext cx="512064" cy="512064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24" name="Image 3" descr="/home/claude/pharma-search/icons2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63804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2331720"/>
            <a:ext cx="2535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substitutes instantly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300728" y="2331720"/>
            <a:ext cx="3587496" cy="868680"/>
          </a:xfrm>
          <a:prstGeom prst="roundRect">
            <a:avLst>
              <a:gd name="adj" fmla="val 12632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366565" y="2356409"/>
            <a:ext cx="819302" cy="819302"/>
          </a:xfrm>
          <a:prstGeom prst="ellipse">
            <a:avLst/>
          </a:prstGeom>
          <a:solidFill>
            <a:srgbClr val="00D26A">
              <a:alpha val="10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4520184" y="2510028"/>
            <a:ext cx="512064" cy="512064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29" name="Image 4" descr="/home/claude/pharma-search/icons2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2638044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69408" y="2331720"/>
            <a:ext cx="2535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large databases efficiently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052816" y="2331720"/>
            <a:ext cx="3587496" cy="868680"/>
          </a:xfrm>
          <a:prstGeom prst="roundRect">
            <a:avLst>
              <a:gd name="adj" fmla="val 12632"/>
            </a:avLst>
          </a:prstGeom>
          <a:solidFill>
            <a:srgbClr val="1E1E27">
              <a:alpha val="5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118653" y="2356409"/>
            <a:ext cx="819302" cy="819302"/>
          </a:xfrm>
          <a:prstGeom prst="ellipse">
            <a:avLst/>
          </a:prstGeom>
          <a:solidFill>
            <a:srgbClr val="00D26A">
              <a:alpha val="10000"/>
            </a:srgbClr>
          </a:solidFill>
          <a:ln/>
        </p:spPr>
      </p:sp>
      <p:sp>
        <p:nvSpPr>
          <p:cNvPr id="33" name="Shape 26"/>
          <p:cNvSpPr/>
          <p:nvPr/>
        </p:nvSpPr>
        <p:spPr>
          <a:xfrm>
            <a:off x="8272272" y="2510028"/>
            <a:ext cx="512064" cy="512064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D26A">
                <a:alpha val="22000"/>
              </a:srgbClr>
            </a:solidFill>
            <a:prstDash val="solid"/>
          </a:ln>
        </p:spPr>
      </p:sp>
      <p:pic>
        <p:nvPicPr>
          <p:cNvPr id="34" name="Image 5" descr="/home/claude/pharma-search/icons2/flas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0288" y="2638044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921496" y="2331720"/>
            <a:ext cx="2535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8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advanced DSA in healthcare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548640" y="3657600"/>
            <a:ext cx="11091672" cy="1371600"/>
          </a:xfrm>
          <a:prstGeom prst="roundRect">
            <a:avLst>
              <a:gd name="adj" fmla="val 10667"/>
            </a:avLst>
          </a:prstGeom>
          <a:solidFill>
            <a:srgbClr val="15151C">
              <a:alpha val="9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822960" y="38039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1409090" y="3939235"/>
            <a:ext cx="936346" cy="936346"/>
          </a:xfrm>
          <a:prstGeom prst="ellipse">
            <a:avLst/>
          </a:prstGeom>
          <a:solidFill>
            <a:srgbClr val="00C2D1">
              <a:alpha val="12000"/>
            </a:srgbClr>
          </a:solidFill>
          <a:ln/>
        </p:spPr>
      </p:sp>
      <p:sp>
        <p:nvSpPr>
          <p:cNvPr id="39" name="Shape 31"/>
          <p:cNvSpPr/>
          <p:nvPr/>
        </p:nvSpPr>
        <p:spPr>
          <a:xfrm>
            <a:off x="1584655" y="4114800"/>
            <a:ext cx="585216" cy="585216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40" name="Image 6" descr="/home/claude/pharma-search/icons2/barc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0959" y="4261104"/>
            <a:ext cx="292608" cy="29260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85800" y="4773168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2876702" y="4389120"/>
            <a:ext cx="201168" cy="0"/>
          </a:xfrm>
          <a:prstGeom prst="line">
            <a:avLst/>
          </a:prstGeom>
          <a:noFill/>
          <a:ln w="9525">
            <a:solidFill>
              <a:srgbClr val="00C2D1">
                <a:alpha val="45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3517697" y="3939235"/>
            <a:ext cx="936346" cy="936346"/>
          </a:xfrm>
          <a:prstGeom prst="ellipse">
            <a:avLst/>
          </a:prstGeom>
          <a:solidFill>
            <a:srgbClr val="00C2D1">
              <a:alpha val="12000"/>
            </a:srgbClr>
          </a:solidFill>
          <a:ln/>
        </p:spPr>
      </p:sp>
      <p:sp>
        <p:nvSpPr>
          <p:cNvPr id="44" name="Shape 35"/>
          <p:cNvSpPr/>
          <p:nvPr/>
        </p:nvSpPr>
        <p:spPr>
          <a:xfrm>
            <a:off x="3693262" y="4114800"/>
            <a:ext cx="585216" cy="585216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45" name="Image 7" descr="/home/claude/pharma-search/icons2/qrco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9566" y="4261104"/>
            <a:ext cx="292608" cy="29260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2794406" y="4773168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Support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4985309" y="4389120"/>
            <a:ext cx="201168" cy="0"/>
          </a:xfrm>
          <a:prstGeom prst="line">
            <a:avLst/>
          </a:prstGeom>
          <a:noFill/>
          <a:ln w="9525">
            <a:solidFill>
              <a:srgbClr val="00C2D1">
                <a:alpha val="45000"/>
              </a:srgbClr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5626303" y="3939235"/>
            <a:ext cx="936346" cy="936346"/>
          </a:xfrm>
          <a:prstGeom prst="ellipse">
            <a:avLst/>
          </a:prstGeom>
          <a:solidFill>
            <a:srgbClr val="00C2D1">
              <a:alpha val="12000"/>
            </a:srgbClr>
          </a:solidFill>
          <a:ln/>
        </p:spPr>
      </p:sp>
      <p:sp>
        <p:nvSpPr>
          <p:cNvPr id="49" name="Shape 39"/>
          <p:cNvSpPr/>
          <p:nvPr/>
        </p:nvSpPr>
        <p:spPr>
          <a:xfrm>
            <a:off x="5801868" y="4114800"/>
            <a:ext cx="585216" cy="585216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50" name="Image 8" descr="/home/claude/pharma-search/icons2/robo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8172" y="4261104"/>
            <a:ext cx="292608" cy="29260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4903013" y="4773168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7093915" y="4389120"/>
            <a:ext cx="201168" cy="0"/>
          </a:xfrm>
          <a:prstGeom prst="line">
            <a:avLst/>
          </a:prstGeom>
          <a:noFill/>
          <a:ln w="9525">
            <a:solidFill>
              <a:srgbClr val="00C2D1">
                <a:alpha val="45000"/>
              </a:srgbClr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7734910" y="3939235"/>
            <a:ext cx="936346" cy="936346"/>
          </a:xfrm>
          <a:prstGeom prst="ellipse">
            <a:avLst/>
          </a:prstGeom>
          <a:solidFill>
            <a:srgbClr val="00C2D1">
              <a:alpha val="12000"/>
            </a:srgbClr>
          </a:solidFill>
          <a:ln/>
        </p:spPr>
      </p:sp>
      <p:sp>
        <p:nvSpPr>
          <p:cNvPr id="54" name="Shape 43"/>
          <p:cNvSpPr/>
          <p:nvPr/>
        </p:nvSpPr>
        <p:spPr>
          <a:xfrm>
            <a:off x="7910474" y="4114800"/>
            <a:ext cx="585216" cy="585216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55" name="Image 9" descr="/home/claude/pharma-search/icons2/microphon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6778" y="4261104"/>
            <a:ext cx="292608" cy="292608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7011619" y="4773168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Search</a:t>
            </a:r>
            <a:endParaRPr lang="en-US" sz="1000" dirty="0"/>
          </a:p>
        </p:txBody>
      </p:sp>
      <p:sp>
        <p:nvSpPr>
          <p:cNvPr id="57" name="Shape 45"/>
          <p:cNvSpPr/>
          <p:nvPr/>
        </p:nvSpPr>
        <p:spPr>
          <a:xfrm>
            <a:off x="9202522" y="4389120"/>
            <a:ext cx="201168" cy="0"/>
          </a:xfrm>
          <a:prstGeom prst="line">
            <a:avLst/>
          </a:prstGeom>
          <a:noFill/>
          <a:ln w="9525">
            <a:solidFill>
              <a:srgbClr val="00C2D1">
                <a:alpha val="45000"/>
              </a:srgbClr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>
            <a:off x="9843516" y="3939235"/>
            <a:ext cx="936346" cy="936346"/>
          </a:xfrm>
          <a:prstGeom prst="ellipse">
            <a:avLst/>
          </a:prstGeom>
          <a:solidFill>
            <a:srgbClr val="00C2D1">
              <a:alpha val="12000"/>
            </a:srgbClr>
          </a:solidFill>
          <a:ln/>
        </p:spPr>
      </p:sp>
      <p:sp>
        <p:nvSpPr>
          <p:cNvPr id="59" name="Shape 47"/>
          <p:cNvSpPr/>
          <p:nvPr/>
        </p:nvSpPr>
        <p:spPr>
          <a:xfrm>
            <a:off x="10019081" y="4114800"/>
            <a:ext cx="585216" cy="585216"/>
          </a:xfrm>
          <a:prstGeom prst="ellipse">
            <a:avLst/>
          </a:prstGeom>
          <a:solidFill>
            <a:srgbClr val="1E1E27">
              <a:alpha val="75000"/>
            </a:srgbClr>
          </a:solidFill>
          <a:ln w="12700">
            <a:solidFill>
              <a:srgbClr val="00C2D1">
                <a:alpha val="22000"/>
              </a:srgbClr>
            </a:solidFill>
            <a:prstDash val="solid"/>
          </a:ln>
        </p:spPr>
      </p:sp>
      <p:pic>
        <p:nvPicPr>
          <p:cNvPr id="60" name="Image 10" descr="/home/claude/pharma-search/icons2/mobi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5385" y="4261104"/>
            <a:ext cx="292608" cy="292608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9120226" y="4773168"/>
            <a:ext cx="22000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62" name="Text 49"/>
          <p:cNvSpPr/>
          <p:nvPr/>
        </p:nvSpPr>
        <p:spPr>
          <a:xfrm>
            <a:off x="548640" y="52578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“Building Smarter Healthcare Solutions Through Advanced Algorithms”</a:t>
            </a:r>
            <a:endParaRPr lang="en-US" sz="1800" dirty="0"/>
          </a:p>
        </p:txBody>
      </p:sp>
      <p:sp>
        <p:nvSpPr>
          <p:cNvPr id="63" name="Text 50"/>
          <p:cNvSpPr/>
          <p:nvPr/>
        </p:nvSpPr>
        <p:spPr>
          <a:xfrm>
            <a:off x="548640" y="649224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B7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 ·   DATA STRUCTURES &amp; ALGORITHMS – III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2026-08-02T15:39:52Z</dcterms:created>
  <dcterms:modified xsi:type="dcterms:W3CDTF">2026-08-02T15:39:52Z</dcterms:modified>
</cp:coreProperties>
</file>